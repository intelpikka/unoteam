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5"/>
            <a:ext cx="923629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584053"/>
                </a:solidFill>
                <a:latin typeface="Roboto"/>
              </a:rPr>
              <a:t>제품 기획안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667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390525" y="1562100"/>
            <a:ext cx="4836023" cy="1143000"/>
            <a:chOff x="390525" y="1562100"/>
            <a:chExt cx="4836023" cy="11430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562100"/>
              <a:ext cx="4836023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584053"/>
                  </a:solidFill>
                  <a:latin typeface="Shantell Sans"/>
                </a:rPr>
                <a:t>AI 기반 반려동물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133600"/>
              <a:ext cx="4836023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584053"/>
                  </a:solidFill>
                  <a:latin typeface="Shantell Sans"/>
                </a:rPr>
                <a:t>자율 케어 시스템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90525" y="2895600"/>
            <a:ext cx="2245071" cy="685800"/>
            <a:chOff x="390525" y="2895600"/>
            <a:chExt cx="2245071" cy="685800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2895600"/>
              <a:ext cx="22450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반려동물의 건강한 식습관과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3124200"/>
              <a:ext cx="22450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행복한 일상을 위한 스마트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3352800"/>
              <a:ext cx="22450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솔루션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525" y="4505325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584053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155978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03452" y="714375"/>
            <a:ext cx="3769071" cy="1085850"/>
          </a:xfrm>
          <a:custGeom>
            <a:avLst/>
            <a:gdLst/>
            <a:ahLst/>
            <a:cxnLst/>
            <a:rect l="0" t="0" r="0" b="0"/>
            <a:pathLst>
              <a:path w="3769071" h="1085850">
                <a:moveTo>
                  <a:pt x="3769071" y="971550"/>
                </a:moveTo>
                <a:cubicBezTo>
                  <a:pt x="3769071" y="1034672"/>
                  <a:pt x="3717902" y="1085850"/>
                  <a:pt x="365477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54771" y="0"/>
                </a:lnTo>
                <a:cubicBezTo>
                  <a:pt x="3717902" y="0"/>
                  <a:pt x="3769071" y="51177"/>
                  <a:pt x="3769071" y="114300"/>
                </a:cubicBezTo>
                <a:lnTo>
                  <a:pt x="3769071" y="971550"/>
                </a:lnTo>
              </a:path>
            </a:pathLst>
          </a:custGeom>
          <a:solidFill>
            <a:srgbClr val="EEEA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03452" y="714375"/>
            <a:ext cx="3769071" cy="1085850"/>
          </a:xfrm>
          <a:custGeom>
            <a:avLst/>
            <a:gdLst/>
            <a:ahLst/>
            <a:cxnLst/>
            <a:rect l="0" t="0" r="0" b="0"/>
            <a:pathLst>
              <a:path w="3769071" h="1085850">
                <a:moveTo>
                  <a:pt x="3769071" y="971550"/>
                </a:moveTo>
                <a:cubicBezTo>
                  <a:pt x="3769071" y="1034672"/>
                  <a:pt x="3717902" y="1085850"/>
                  <a:pt x="365477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54771" y="0"/>
                </a:lnTo>
                <a:cubicBezTo>
                  <a:pt x="3717902" y="0"/>
                  <a:pt x="3769071" y="51177"/>
                  <a:pt x="3769071" y="114300"/>
                </a:cubicBezTo>
                <a:lnTo>
                  <a:pt x="3769071" y="971550"/>
                </a:ln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03452" y="714374"/>
            <a:ext cx="3769072" cy="1085850"/>
          </a:xfrm>
          <a:custGeom>
            <a:avLst/>
            <a:gdLst/>
            <a:ahLst/>
            <a:cxnLst/>
            <a:rect l="0" t="0" r="0" b="0"/>
            <a:pathLst>
              <a:path w="3769072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654772" y="0"/>
                </a:moveTo>
                <a:lnTo>
                  <a:pt x="114300" y="0"/>
                </a:lnTo>
                <a:moveTo>
                  <a:pt x="3769072" y="114300"/>
                </a:moveTo>
                <a:cubicBezTo>
                  <a:pt x="3769072" y="51174"/>
                  <a:pt x="3717898" y="0"/>
                  <a:pt x="3654772" y="0"/>
                </a:cubicBezTo>
                <a:moveTo>
                  <a:pt x="3769072" y="971550"/>
                </a:moveTo>
                <a:lnTo>
                  <a:pt x="3769072" y="114300"/>
                </a:lnTo>
                <a:moveTo>
                  <a:pt x="3654772" y="1085850"/>
                </a:moveTo>
                <a:cubicBezTo>
                  <a:pt x="3717898" y="1085850"/>
                  <a:pt x="3769072" y="1034675"/>
                  <a:pt x="3769072" y="971550"/>
                </a:cubicBezTo>
                <a:moveTo>
                  <a:pt x="3654772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03452" y="2028825"/>
            <a:ext cx="3769071" cy="1085850"/>
          </a:xfrm>
          <a:custGeom>
            <a:avLst/>
            <a:gdLst/>
            <a:ahLst/>
            <a:cxnLst/>
            <a:rect l="0" t="0" r="0" b="0"/>
            <a:pathLst>
              <a:path w="3769071" h="1085850">
                <a:moveTo>
                  <a:pt x="3769071" y="971550"/>
                </a:moveTo>
                <a:cubicBezTo>
                  <a:pt x="3769071" y="1034672"/>
                  <a:pt x="3717902" y="1085850"/>
                  <a:pt x="365477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54771" y="0"/>
                </a:lnTo>
                <a:cubicBezTo>
                  <a:pt x="3717902" y="0"/>
                  <a:pt x="3769071" y="51177"/>
                  <a:pt x="3769071" y="114300"/>
                </a:cubicBezTo>
                <a:lnTo>
                  <a:pt x="3769071" y="971550"/>
                </a:lnTo>
              </a:path>
            </a:pathLst>
          </a:custGeom>
          <a:solidFill>
            <a:srgbClr val="EEEA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03452" y="2028825"/>
            <a:ext cx="3769071" cy="1085850"/>
          </a:xfrm>
          <a:custGeom>
            <a:avLst/>
            <a:gdLst/>
            <a:ahLst/>
            <a:cxnLst/>
            <a:rect l="0" t="0" r="0" b="0"/>
            <a:pathLst>
              <a:path w="3769071" h="1085850">
                <a:moveTo>
                  <a:pt x="3769071" y="971550"/>
                </a:moveTo>
                <a:cubicBezTo>
                  <a:pt x="3769071" y="1034672"/>
                  <a:pt x="3717902" y="1085850"/>
                  <a:pt x="365477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54771" y="0"/>
                </a:lnTo>
                <a:cubicBezTo>
                  <a:pt x="3717902" y="0"/>
                  <a:pt x="3769071" y="51177"/>
                  <a:pt x="3769071" y="114300"/>
                </a:cubicBezTo>
                <a:lnTo>
                  <a:pt x="3769071" y="971550"/>
                </a:ln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03452" y="2028824"/>
            <a:ext cx="3769072" cy="1085850"/>
          </a:xfrm>
          <a:custGeom>
            <a:avLst/>
            <a:gdLst/>
            <a:ahLst/>
            <a:cxnLst/>
            <a:rect l="0" t="0" r="0" b="0"/>
            <a:pathLst>
              <a:path w="3769072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654772" y="0"/>
                </a:moveTo>
                <a:lnTo>
                  <a:pt x="114300" y="0"/>
                </a:lnTo>
                <a:moveTo>
                  <a:pt x="3769072" y="114300"/>
                </a:moveTo>
                <a:cubicBezTo>
                  <a:pt x="3769072" y="51174"/>
                  <a:pt x="3717898" y="0"/>
                  <a:pt x="3654772" y="0"/>
                </a:cubicBezTo>
                <a:moveTo>
                  <a:pt x="3769072" y="971550"/>
                </a:moveTo>
                <a:lnTo>
                  <a:pt x="3769072" y="114300"/>
                </a:lnTo>
                <a:moveTo>
                  <a:pt x="3654772" y="1085850"/>
                </a:moveTo>
                <a:cubicBezTo>
                  <a:pt x="3717898" y="1085850"/>
                  <a:pt x="3769072" y="1034675"/>
                  <a:pt x="3769072" y="971550"/>
                </a:cubicBezTo>
                <a:moveTo>
                  <a:pt x="3654772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03452" y="3343275"/>
            <a:ext cx="3769071" cy="1085850"/>
          </a:xfrm>
          <a:custGeom>
            <a:avLst/>
            <a:gdLst/>
            <a:ahLst/>
            <a:cxnLst/>
            <a:rect l="0" t="0" r="0" b="0"/>
            <a:pathLst>
              <a:path w="3769071" h="1085850">
                <a:moveTo>
                  <a:pt x="3769071" y="971550"/>
                </a:moveTo>
                <a:cubicBezTo>
                  <a:pt x="3769071" y="1034672"/>
                  <a:pt x="3717902" y="1085850"/>
                  <a:pt x="365477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54771" y="0"/>
                </a:lnTo>
                <a:cubicBezTo>
                  <a:pt x="3717902" y="0"/>
                  <a:pt x="3769071" y="51177"/>
                  <a:pt x="3769071" y="114300"/>
                </a:cubicBezTo>
                <a:lnTo>
                  <a:pt x="3769071" y="971550"/>
                </a:lnTo>
              </a:path>
            </a:pathLst>
          </a:custGeom>
          <a:solidFill>
            <a:srgbClr val="EEEA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3452" y="3343275"/>
            <a:ext cx="3769071" cy="1085850"/>
          </a:xfrm>
          <a:custGeom>
            <a:avLst/>
            <a:gdLst/>
            <a:ahLst/>
            <a:cxnLst/>
            <a:rect l="0" t="0" r="0" b="0"/>
            <a:pathLst>
              <a:path w="3769071" h="1085850">
                <a:moveTo>
                  <a:pt x="3769071" y="971550"/>
                </a:moveTo>
                <a:cubicBezTo>
                  <a:pt x="3769071" y="1034672"/>
                  <a:pt x="3717902" y="1085850"/>
                  <a:pt x="3654771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654771" y="0"/>
                </a:lnTo>
                <a:cubicBezTo>
                  <a:pt x="3717902" y="0"/>
                  <a:pt x="3769071" y="51177"/>
                  <a:pt x="3769071" y="114300"/>
                </a:cubicBezTo>
                <a:lnTo>
                  <a:pt x="3769071" y="971550"/>
                </a:ln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03452" y="3343274"/>
            <a:ext cx="3769072" cy="1085850"/>
          </a:xfrm>
          <a:custGeom>
            <a:avLst/>
            <a:gdLst/>
            <a:ahLst/>
            <a:cxnLst/>
            <a:rect l="0" t="0" r="0" b="0"/>
            <a:pathLst>
              <a:path w="3769072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654772" y="0"/>
                </a:moveTo>
                <a:lnTo>
                  <a:pt x="114300" y="0"/>
                </a:lnTo>
                <a:moveTo>
                  <a:pt x="3769072" y="114300"/>
                </a:moveTo>
                <a:cubicBezTo>
                  <a:pt x="3769072" y="51174"/>
                  <a:pt x="3717898" y="0"/>
                  <a:pt x="3654772" y="0"/>
                </a:cubicBezTo>
                <a:moveTo>
                  <a:pt x="3769072" y="971550"/>
                </a:moveTo>
                <a:lnTo>
                  <a:pt x="3769072" y="114300"/>
                </a:lnTo>
                <a:moveTo>
                  <a:pt x="3654772" y="1085850"/>
                </a:moveTo>
                <a:cubicBezTo>
                  <a:pt x="3717898" y="1085850"/>
                  <a:pt x="3769072" y="1034675"/>
                  <a:pt x="3769072" y="971550"/>
                </a:cubicBezTo>
                <a:moveTo>
                  <a:pt x="3654772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525" y="371475"/>
            <a:ext cx="326797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584053"/>
                </a:solidFill>
                <a:latin typeface="Shantell Sans"/>
              </a:rPr>
              <a:t>기획 배경 및 목적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3002" y="904875"/>
            <a:ext cx="1146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584053"/>
                </a:solidFill>
                <a:latin typeface="Roboto"/>
              </a:rPr>
              <a:t>관리 공백 해소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213002" y="1228725"/>
            <a:ext cx="3284639" cy="381000"/>
            <a:chOff x="5213002" y="1228725"/>
            <a:chExt cx="3284639" cy="381000"/>
          </a:xfrm>
        </p:grpSpPr>
        <p:sp>
          <p:nvSpPr>
            <p:cNvPr id="14" name="TextBox 13"/>
            <p:cNvSpPr txBox="1"/>
            <p:nvPr/>
          </p:nvSpPr>
          <p:spPr>
            <a:xfrm>
              <a:off x="5213002" y="1228725"/>
              <a:ext cx="32846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보호자 부재 시 발생하는 분리 불안 및 급식 불균형 문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13002" y="1419225"/>
              <a:ext cx="32846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제 해결.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213002" y="2219325"/>
            <a:ext cx="1321593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584053"/>
                </a:solidFill>
                <a:latin typeface="Roboto"/>
              </a:rPr>
              <a:t>데이터 기반 관리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213002" y="2543175"/>
            <a:ext cx="3349228" cy="381000"/>
            <a:chOff x="5213002" y="2543175"/>
            <a:chExt cx="3349228" cy="381000"/>
          </a:xfrm>
        </p:grpSpPr>
        <p:sp>
          <p:nvSpPr>
            <p:cNvPr id="18" name="TextBox 17"/>
            <p:cNvSpPr txBox="1"/>
            <p:nvPr/>
          </p:nvSpPr>
          <p:spPr>
            <a:xfrm>
              <a:off x="5213002" y="2543175"/>
              <a:ext cx="334922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감에 의존하는 관리에서 벗어나 정밀 센서 데이터 기반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13002" y="2733675"/>
              <a:ext cx="334922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의 체계적 케어.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213002" y="3533775"/>
            <a:ext cx="92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584053"/>
                </a:solidFill>
                <a:latin typeface="Roboto"/>
              </a:rPr>
              <a:t>기술적 혁신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213002" y="3857625"/>
            <a:ext cx="3349971" cy="381000"/>
            <a:chOff x="5213002" y="3857625"/>
            <a:chExt cx="3349971" cy="381000"/>
          </a:xfrm>
        </p:grpSpPr>
        <p:sp>
          <p:nvSpPr>
            <p:cNvPr id="22" name="TextBox 21"/>
            <p:cNvSpPr txBox="1"/>
            <p:nvPr/>
          </p:nvSpPr>
          <p:spPr>
            <a:xfrm>
              <a:off x="5213002" y="3857625"/>
              <a:ext cx="33499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아두이노 하드웨어와 AI 분석 기술을 결합한 실시간 자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13002" y="4048125"/>
              <a:ext cx="334997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율 케어 구현.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90525" y="4543424"/>
            <a:ext cx="354538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584053"/>
                </a:solidFill>
                <a:latin typeface="Roboto"/>
              </a:rPr>
              <a:t>1인 가구 증가와 반려동물 건강 관리의 필요성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28975" y="492918"/>
            <a:ext cx="3106702" cy="2078831"/>
          </a:xfrm>
          <a:custGeom>
            <a:avLst/>
            <a:gdLst/>
            <a:ahLst/>
            <a:cxnLst/>
            <a:rect l="0" t="0" r="0" b="0"/>
            <a:pathLst>
              <a:path w="3106702" h="2078831">
                <a:moveTo>
                  <a:pt x="0" y="2078831"/>
                </a:moveTo>
                <a:lnTo>
                  <a:pt x="1247298" y="2078831"/>
                </a:lnTo>
                <a:lnTo>
                  <a:pt x="1247298" y="1951786"/>
                </a:lnTo>
                <a:lnTo>
                  <a:pt x="1178004" y="1951786"/>
                </a:lnTo>
                <a:lnTo>
                  <a:pt x="1385887" y="1743903"/>
                </a:lnTo>
                <a:lnTo>
                  <a:pt x="1593770" y="1951786"/>
                </a:lnTo>
                <a:lnTo>
                  <a:pt x="1524476" y="1951786"/>
                </a:lnTo>
                <a:lnTo>
                  <a:pt x="1524476" y="2078831"/>
                </a:lnTo>
                <a:lnTo>
                  <a:pt x="2771775" y="2078831"/>
                </a:lnTo>
                <a:lnTo>
                  <a:pt x="2771775" y="1663065"/>
                </a:lnTo>
                <a:lnTo>
                  <a:pt x="2898809" y="1663065"/>
                </a:lnTo>
                <a:lnTo>
                  <a:pt x="2898809" y="1732359"/>
                </a:lnTo>
                <a:lnTo>
                  <a:pt x="3106702" y="1524476"/>
                </a:lnTo>
                <a:lnTo>
                  <a:pt x="2898809" y="1316593"/>
                </a:lnTo>
                <a:lnTo>
                  <a:pt x="2898809" y="1385887"/>
                </a:lnTo>
                <a:lnTo>
                  <a:pt x="2771775" y="1385887"/>
                </a:lnTo>
                <a:lnTo>
                  <a:pt x="2771775" y="0"/>
                </a:lnTo>
                <a:lnTo>
                  <a:pt x="0" y="0"/>
                </a:lnTo>
                <a:lnTo>
                  <a:pt x="0" y="2078831"/>
                </a:lnTo>
              </a:path>
            </a:pathLst>
          </a:custGeom>
          <a:solidFill>
            <a:srgbClr val="9CC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28975" y="492918"/>
            <a:ext cx="3106697" cy="2078831"/>
          </a:xfrm>
          <a:custGeom>
            <a:avLst/>
            <a:gdLst/>
            <a:ahLst/>
            <a:cxnLst/>
            <a:rect l="0" t="0" r="0" b="0"/>
            <a:pathLst>
              <a:path w="3106697" h="2078831">
                <a:moveTo>
                  <a:pt x="2771775" y="1385887"/>
                </a:moveTo>
                <a:lnTo>
                  <a:pt x="2771775" y="0"/>
                </a:lnTo>
                <a:lnTo>
                  <a:pt x="0" y="0"/>
                </a:lnTo>
                <a:lnTo>
                  <a:pt x="0" y="1385887"/>
                </a:lnTo>
                <a:moveTo>
                  <a:pt x="2771775" y="1385887"/>
                </a:moveTo>
                <a:lnTo>
                  <a:pt x="2898814" y="1385887"/>
                </a:lnTo>
                <a:lnTo>
                  <a:pt x="2898814" y="1316593"/>
                </a:lnTo>
                <a:lnTo>
                  <a:pt x="3106697" y="1524476"/>
                </a:lnTo>
                <a:lnTo>
                  <a:pt x="2898814" y="1732359"/>
                </a:lnTo>
                <a:lnTo>
                  <a:pt x="2898814" y="1663064"/>
                </a:lnTo>
                <a:lnTo>
                  <a:pt x="2771775" y="1663064"/>
                </a:lnTo>
                <a:lnTo>
                  <a:pt x="2771775" y="2078831"/>
                </a:lnTo>
                <a:lnTo>
                  <a:pt x="1524476" y="2078831"/>
                </a:lnTo>
                <a:lnTo>
                  <a:pt x="1524476" y="1951791"/>
                </a:lnTo>
                <a:lnTo>
                  <a:pt x="1593770" y="1951791"/>
                </a:lnTo>
                <a:lnTo>
                  <a:pt x="1385887" y="1743908"/>
                </a:lnTo>
                <a:lnTo>
                  <a:pt x="1178004" y="1951791"/>
                </a:lnTo>
                <a:lnTo>
                  <a:pt x="1247298" y="1951791"/>
                </a:lnTo>
                <a:lnTo>
                  <a:pt x="1247298" y="2078831"/>
                </a:lnTo>
                <a:lnTo>
                  <a:pt x="0" y="2078831"/>
                </a:lnTo>
                <a:lnTo>
                  <a:pt x="0" y="1385887"/>
                </a:lnTo>
              </a:path>
            </a:pathLst>
          </a:custGeom>
          <a:noFill/>
          <a:ln w="17323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00750" y="492918"/>
            <a:ext cx="2771775" cy="2413758"/>
          </a:xfrm>
          <a:custGeom>
            <a:avLst/>
            <a:gdLst/>
            <a:ahLst/>
            <a:cxnLst/>
            <a:rect l="0" t="0" r="0" b="0"/>
            <a:pathLst>
              <a:path w="2771775" h="2413758">
                <a:moveTo>
                  <a:pt x="0" y="1385887"/>
                </a:moveTo>
                <a:lnTo>
                  <a:pt x="127034" y="1385887"/>
                </a:lnTo>
                <a:lnTo>
                  <a:pt x="127034" y="1316593"/>
                </a:lnTo>
                <a:lnTo>
                  <a:pt x="334918" y="1524476"/>
                </a:lnTo>
                <a:lnTo>
                  <a:pt x="127034" y="1732359"/>
                </a:lnTo>
                <a:lnTo>
                  <a:pt x="127034" y="1663065"/>
                </a:lnTo>
                <a:lnTo>
                  <a:pt x="0" y="1663065"/>
                </a:lnTo>
                <a:lnTo>
                  <a:pt x="0" y="2078831"/>
                </a:lnTo>
                <a:lnTo>
                  <a:pt x="1247298" y="2078831"/>
                </a:lnTo>
                <a:lnTo>
                  <a:pt x="1247298" y="2205875"/>
                </a:lnTo>
                <a:lnTo>
                  <a:pt x="1178004" y="2205875"/>
                </a:lnTo>
                <a:lnTo>
                  <a:pt x="1385887" y="2413758"/>
                </a:lnTo>
                <a:lnTo>
                  <a:pt x="1593770" y="2205875"/>
                </a:lnTo>
                <a:lnTo>
                  <a:pt x="1524476" y="2205875"/>
                </a:lnTo>
                <a:lnTo>
                  <a:pt x="1524476" y="2078831"/>
                </a:lnTo>
                <a:lnTo>
                  <a:pt x="2771775" y="2078831"/>
                </a:lnTo>
                <a:lnTo>
                  <a:pt x="2771775" y="0"/>
                </a:lnTo>
                <a:lnTo>
                  <a:pt x="0" y="0"/>
                </a:lnTo>
                <a:lnTo>
                  <a:pt x="0" y="1385887"/>
                </a:lnTo>
              </a:path>
            </a:pathLst>
          </a:custGeom>
          <a:solidFill>
            <a:srgbClr val="BEC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0750" y="492918"/>
            <a:ext cx="2771775" cy="2413754"/>
          </a:xfrm>
          <a:custGeom>
            <a:avLst/>
            <a:gdLst/>
            <a:ahLst/>
            <a:cxnLst/>
            <a:rect l="0" t="0" r="0" b="0"/>
            <a:pathLst>
              <a:path w="2771775" h="2413754">
                <a:moveTo>
                  <a:pt x="2771775" y="1247298"/>
                </a:moveTo>
                <a:lnTo>
                  <a:pt x="2771775" y="2078831"/>
                </a:lnTo>
                <a:lnTo>
                  <a:pt x="1524476" y="2078831"/>
                </a:lnTo>
                <a:lnTo>
                  <a:pt x="1524476" y="2205871"/>
                </a:lnTo>
                <a:lnTo>
                  <a:pt x="1593770" y="2205871"/>
                </a:lnTo>
                <a:lnTo>
                  <a:pt x="1385887" y="2413754"/>
                </a:lnTo>
                <a:lnTo>
                  <a:pt x="1178004" y="2205871"/>
                </a:lnTo>
                <a:lnTo>
                  <a:pt x="1247298" y="2205871"/>
                </a:lnTo>
                <a:lnTo>
                  <a:pt x="1247298" y="2078831"/>
                </a:lnTo>
                <a:lnTo>
                  <a:pt x="0" y="2078831"/>
                </a:lnTo>
                <a:lnTo>
                  <a:pt x="0" y="1663065"/>
                </a:lnTo>
                <a:lnTo>
                  <a:pt x="127039" y="1663065"/>
                </a:lnTo>
                <a:lnTo>
                  <a:pt x="127039" y="1732359"/>
                </a:lnTo>
                <a:lnTo>
                  <a:pt x="334922" y="1524476"/>
                </a:lnTo>
                <a:lnTo>
                  <a:pt x="127039" y="1316593"/>
                </a:lnTo>
                <a:lnTo>
                  <a:pt x="127039" y="1385887"/>
                </a:lnTo>
                <a:lnTo>
                  <a:pt x="0" y="1385887"/>
                </a:lnTo>
                <a:lnTo>
                  <a:pt x="0" y="1247298"/>
                </a:lnTo>
                <a:moveTo>
                  <a:pt x="2771775" y="1385887"/>
                </a:moveTo>
                <a:lnTo>
                  <a:pt x="2771775" y="0"/>
                </a:lnTo>
                <a:lnTo>
                  <a:pt x="0" y="0"/>
                </a:lnTo>
                <a:lnTo>
                  <a:pt x="0" y="1385887"/>
                </a:lnTo>
              </a:path>
            </a:pathLst>
          </a:custGeom>
          <a:noFill/>
          <a:ln w="17323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28975" y="2236826"/>
            <a:ext cx="2771775" cy="2413758"/>
          </a:xfrm>
          <a:custGeom>
            <a:avLst/>
            <a:gdLst/>
            <a:ahLst/>
            <a:cxnLst/>
            <a:rect l="0" t="0" r="0" b="0"/>
            <a:pathLst>
              <a:path w="2771775" h="2413758">
                <a:moveTo>
                  <a:pt x="2771775" y="2413758"/>
                </a:moveTo>
                <a:lnTo>
                  <a:pt x="0" y="2413758"/>
                </a:lnTo>
                <a:lnTo>
                  <a:pt x="0" y="334927"/>
                </a:lnTo>
                <a:lnTo>
                  <a:pt x="1247298" y="334927"/>
                </a:lnTo>
                <a:lnTo>
                  <a:pt x="1247298" y="207883"/>
                </a:lnTo>
                <a:lnTo>
                  <a:pt x="1178004" y="207883"/>
                </a:lnTo>
                <a:lnTo>
                  <a:pt x="1385887" y="0"/>
                </a:lnTo>
                <a:lnTo>
                  <a:pt x="1593770" y="207883"/>
                </a:lnTo>
                <a:lnTo>
                  <a:pt x="1524476" y="207883"/>
                </a:lnTo>
                <a:lnTo>
                  <a:pt x="1524476" y="334927"/>
                </a:lnTo>
                <a:lnTo>
                  <a:pt x="2771775" y="334927"/>
                </a:lnTo>
                <a:lnTo>
                  <a:pt x="2771775" y="750693"/>
                </a:lnTo>
                <a:lnTo>
                  <a:pt x="2644740" y="750693"/>
                </a:lnTo>
                <a:lnTo>
                  <a:pt x="2644740" y="681399"/>
                </a:lnTo>
                <a:lnTo>
                  <a:pt x="2436847" y="889282"/>
                </a:lnTo>
                <a:lnTo>
                  <a:pt x="2644740" y="1097165"/>
                </a:lnTo>
                <a:lnTo>
                  <a:pt x="2644740" y="1027871"/>
                </a:lnTo>
                <a:lnTo>
                  <a:pt x="2771775" y="1027871"/>
                </a:lnTo>
                <a:lnTo>
                  <a:pt x="2771775" y="2413758"/>
                </a:lnTo>
              </a:path>
            </a:pathLst>
          </a:custGeom>
          <a:solidFill>
            <a:srgbClr val="FCBC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28975" y="2236827"/>
            <a:ext cx="2771775" cy="2413754"/>
          </a:xfrm>
          <a:custGeom>
            <a:avLst/>
            <a:gdLst/>
            <a:ahLst/>
            <a:cxnLst/>
            <a:rect l="0" t="0" r="0" b="0"/>
            <a:pathLst>
              <a:path w="2771775" h="2413754">
                <a:moveTo>
                  <a:pt x="2771775" y="1166455"/>
                </a:moveTo>
                <a:lnTo>
                  <a:pt x="2771775" y="1027866"/>
                </a:lnTo>
                <a:lnTo>
                  <a:pt x="2644735" y="1027866"/>
                </a:lnTo>
                <a:lnTo>
                  <a:pt x="2644735" y="1097160"/>
                </a:lnTo>
                <a:lnTo>
                  <a:pt x="2436852" y="889277"/>
                </a:lnTo>
                <a:lnTo>
                  <a:pt x="2644735" y="681394"/>
                </a:lnTo>
                <a:lnTo>
                  <a:pt x="2644735" y="750689"/>
                </a:lnTo>
                <a:lnTo>
                  <a:pt x="2771775" y="750689"/>
                </a:lnTo>
                <a:lnTo>
                  <a:pt x="2771775" y="334922"/>
                </a:lnTo>
                <a:lnTo>
                  <a:pt x="1524476" y="334922"/>
                </a:lnTo>
                <a:lnTo>
                  <a:pt x="1524476" y="207883"/>
                </a:lnTo>
                <a:lnTo>
                  <a:pt x="1593770" y="207883"/>
                </a:lnTo>
                <a:lnTo>
                  <a:pt x="1385887" y="0"/>
                </a:lnTo>
                <a:lnTo>
                  <a:pt x="1178004" y="207883"/>
                </a:lnTo>
                <a:lnTo>
                  <a:pt x="1247298" y="207883"/>
                </a:lnTo>
                <a:lnTo>
                  <a:pt x="1247298" y="334922"/>
                </a:lnTo>
                <a:lnTo>
                  <a:pt x="0" y="334922"/>
                </a:lnTo>
                <a:lnTo>
                  <a:pt x="0" y="1166455"/>
                </a:lnTo>
                <a:moveTo>
                  <a:pt x="2771775" y="1166455"/>
                </a:moveTo>
                <a:lnTo>
                  <a:pt x="2771775" y="1720810"/>
                </a:lnTo>
                <a:moveTo>
                  <a:pt x="0" y="1720810"/>
                </a:moveTo>
                <a:lnTo>
                  <a:pt x="0" y="1166455"/>
                </a:lnTo>
                <a:moveTo>
                  <a:pt x="2771775" y="1720810"/>
                </a:moveTo>
                <a:lnTo>
                  <a:pt x="2771775" y="2413754"/>
                </a:lnTo>
                <a:lnTo>
                  <a:pt x="0" y="2413754"/>
                </a:lnTo>
                <a:lnTo>
                  <a:pt x="0" y="1720810"/>
                </a:lnTo>
              </a:path>
            </a:pathLst>
          </a:custGeom>
          <a:noFill/>
          <a:ln w="17323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5827" y="2571750"/>
            <a:ext cx="3106693" cy="2078831"/>
          </a:xfrm>
          <a:custGeom>
            <a:avLst/>
            <a:gdLst/>
            <a:ahLst/>
            <a:cxnLst/>
            <a:rect l="0" t="0" r="0" b="0"/>
            <a:pathLst>
              <a:path w="3106693" h="2078831">
                <a:moveTo>
                  <a:pt x="334918" y="2078831"/>
                </a:moveTo>
                <a:lnTo>
                  <a:pt x="3106693" y="2078831"/>
                </a:lnTo>
                <a:lnTo>
                  <a:pt x="3106693" y="0"/>
                </a:lnTo>
                <a:lnTo>
                  <a:pt x="1859394" y="0"/>
                </a:lnTo>
                <a:lnTo>
                  <a:pt x="1859394" y="127034"/>
                </a:lnTo>
                <a:lnTo>
                  <a:pt x="1928688" y="127034"/>
                </a:lnTo>
                <a:lnTo>
                  <a:pt x="1720805" y="334918"/>
                </a:lnTo>
                <a:lnTo>
                  <a:pt x="1512922" y="127034"/>
                </a:lnTo>
                <a:lnTo>
                  <a:pt x="1582216" y="127034"/>
                </a:lnTo>
                <a:lnTo>
                  <a:pt x="1582216" y="0"/>
                </a:lnTo>
                <a:lnTo>
                  <a:pt x="334918" y="0"/>
                </a:lnTo>
                <a:lnTo>
                  <a:pt x="334918" y="415766"/>
                </a:lnTo>
                <a:lnTo>
                  <a:pt x="207883" y="415766"/>
                </a:lnTo>
                <a:lnTo>
                  <a:pt x="207883" y="346471"/>
                </a:lnTo>
                <a:lnTo>
                  <a:pt x="0" y="554354"/>
                </a:lnTo>
                <a:lnTo>
                  <a:pt x="207883" y="762238"/>
                </a:lnTo>
                <a:lnTo>
                  <a:pt x="207883" y="692943"/>
                </a:lnTo>
                <a:lnTo>
                  <a:pt x="334918" y="692943"/>
                </a:lnTo>
                <a:lnTo>
                  <a:pt x="334918" y="2078831"/>
                </a:ln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5827" y="2571750"/>
            <a:ext cx="3106697" cy="2078831"/>
          </a:xfrm>
          <a:custGeom>
            <a:avLst/>
            <a:gdLst/>
            <a:ahLst/>
            <a:cxnLst/>
            <a:rect l="0" t="0" r="0" b="0"/>
            <a:pathLst>
              <a:path w="3106697" h="2078831">
                <a:moveTo>
                  <a:pt x="334922" y="831532"/>
                </a:moveTo>
                <a:lnTo>
                  <a:pt x="334922" y="692943"/>
                </a:lnTo>
                <a:lnTo>
                  <a:pt x="207883" y="692943"/>
                </a:lnTo>
                <a:lnTo>
                  <a:pt x="207883" y="762238"/>
                </a:lnTo>
                <a:lnTo>
                  <a:pt x="0" y="554354"/>
                </a:lnTo>
                <a:lnTo>
                  <a:pt x="207883" y="346471"/>
                </a:lnTo>
                <a:lnTo>
                  <a:pt x="207883" y="415766"/>
                </a:lnTo>
                <a:lnTo>
                  <a:pt x="334922" y="415766"/>
                </a:lnTo>
                <a:lnTo>
                  <a:pt x="334922" y="0"/>
                </a:lnTo>
                <a:lnTo>
                  <a:pt x="1582221" y="0"/>
                </a:lnTo>
                <a:lnTo>
                  <a:pt x="1582221" y="127039"/>
                </a:lnTo>
                <a:lnTo>
                  <a:pt x="1512927" y="127039"/>
                </a:lnTo>
                <a:lnTo>
                  <a:pt x="1720810" y="334922"/>
                </a:lnTo>
                <a:lnTo>
                  <a:pt x="1928693" y="127039"/>
                </a:lnTo>
                <a:lnTo>
                  <a:pt x="1859399" y="127039"/>
                </a:lnTo>
                <a:lnTo>
                  <a:pt x="1859399" y="0"/>
                </a:lnTo>
                <a:lnTo>
                  <a:pt x="3106697" y="0"/>
                </a:lnTo>
                <a:lnTo>
                  <a:pt x="3106697" y="831532"/>
                </a:lnTo>
                <a:moveTo>
                  <a:pt x="3106697" y="831532"/>
                </a:moveTo>
                <a:lnTo>
                  <a:pt x="3106697" y="1385887"/>
                </a:lnTo>
                <a:moveTo>
                  <a:pt x="334922" y="1385887"/>
                </a:moveTo>
                <a:lnTo>
                  <a:pt x="334922" y="831532"/>
                </a:lnTo>
                <a:moveTo>
                  <a:pt x="3106697" y="1385887"/>
                </a:moveTo>
                <a:lnTo>
                  <a:pt x="3106697" y="2078831"/>
                </a:lnTo>
                <a:lnTo>
                  <a:pt x="334922" y="2078831"/>
                </a:lnTo>
                <a:lnTo>
                  <a:pt x="334922" y="1385887"/>
                </a:lnTo>
              </a:path>
            </a:pathLst>
          </a:custGeom>
          <a:noFill/>
          <a:ln w="17323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7700" y="908655"/>
            <a:ext cx="132902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584053"/>
                </a:solidFill>
                <a:latin typeface="Robo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9475" y="908655"/>
            <a:ext cx="132902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584053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3791" y="1324451"/>
            <a:ext cx="1605705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584053"/>
                </a:solidFill>
                <a:latin typeface="Roboto"/>
              </a:rPr>
              <a:t>센서 데이터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5566" y="1324451"/>
            <a:ext cx="1335290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584053"/>
                </a:solidFill>
                <a:latin typeface="Roboto"/>
              </a:rPr>
              <a:t>클라우드 전송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98814" y="1261626"/>
            <a:ext cx="1829095" cy="1377333"/>
            <a:chOff x="598814" y="1261626"/>
            <a:chExt cx="1829095" cy="1377333"/>
          </a:xfrm>
        </p:grpSpPr>
        <p:sp>
          <p:nvSpPr>
            <p:cNvPr id="14" name="TextBox 13"/>
            <p:cNvSpPr txBox="1"/>
            <p:nvPr/>
          </p:nvSpPr>
          <p:spPr>
            <a:xfrm>
              <a:off x="598814" y="1261626"/>
              <a:ext cx="1829095" cy="8247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200" b="1">
                  <a:solidFill>
                    <a:srgbClr val="584053"/>
                  </a:solidFill>
                  <a:latin typeface="Shantell Sans"/>
                </a:rPr>
                <a:t>시스템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8814" y="2086395"/>
              <a:ext cx="1829095" cy="5525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200" b="1">
                  <a:solidFill>
                    <a:srgbClr val="584053"/>
                  </a:solidFill>
                  <a:latin typeface="Shantell Sans"/>
                </a:rPr>
                <a:t>구성도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663791" y="1740213"/>
            <a:ext cx="1883416" cy="415793"/>
            <a:chOff x="3663791" y="1740213"/>
            <a:chExt cx="1883416" cy="415793"/>
          </a:xfrm>
        </p:grpSpPr>
        <p:sp>
          <p:nvSpPr>
            <p:cNvPr id="17" name="TextBox 16"/>
            <p:cNvSpPr txBox="1"/>
            <p:nvPr/>
          </p:nvSpPr>
          <p:spPr>
            <a:xfrm>
              <a:off x="3663791" y="1740213"/>
              <a:ext cx="1883416" cy="207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Roboto"/>
                </a:rPr>
                <a:t>아두이노 센서가 데이터를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663791" y="1948143"/>
              <a:ext cx="1883416" cy="207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Roboto"/>
                </a:rPr>
                <a:t>수집합니다.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435566" y="1740183"/>
            <a:ext cx="1840410" cy="415793"/>
            <a:chOff x="6435566" y="1740183"/>
            <a:chExt cx="1840410" cy="415793"/>
          </a:xfrm>
        </p:grpSpPr>
        <p:sp>
          <p:nvSpPr>
            <p:cNvPr id="20" name="TextBox 19"/>
            <p:cNvSpPr txBox="1"/>
            <p:nvPr/>
          </p:nvSpPr>
          <p:spPr>
            <a:xfrm>
              <a:off x="6435566" y="1740183"/>
              <a:ext cx="1840410" cy="207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Roboto"/>
                </a:rPr>
                <a:t>데이터가 클라우드로 전송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35566" y="1948113"/>
              <a:ext cx="1840410" cy="207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Roboto"/>
                </a:rPr>
                <a:t>됩니다.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90525" y="3067092"/>
            <a:ext cx="2340921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584053"/>
                </a:solidFill>
                <a:latin typeface="Roboto"/>
              </a:rPr>
              <a:t>하드웨어와 소프트웨어의 유기적인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7700" y="2987516"/>
            <a:ext cx="132902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584053"/>
                </a:solidFill>
                <a:latin typeface="Robot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9475" y="2987516"/>
            <a:ext cx="132902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800" b="1">
                <a:solidFill>
                  <a:srgbClr val="584053"/>
                </a:solidFill>
                <a:latin typeface="Robot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3791" y="3403312"/>
            <a:ext cx="1335290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584053"/>
                </a:solidFill>
                <a:latin typeface="Roboto"/>
              </a:rPr>
              <a:t>하드웨어 제어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5566" y="3403312"/>
            <a:ext cx="706640" cy="27717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584053"/>
                </a:solidFill>
                <a:latin typeface="Roboto"/>
              </a:rPr>
              <a:t>AI 분석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663791" y="3819074"/>
            <a:ext cx="1841153" cy="415793"/>
            <a:chOff x="3663791" y="3819074"/>
            <a:chExt cx="1841153" cy="415793"/>
          </a:xfrm>
        </p:grpSpPr>
        <p:sp>
          <p:nvSpPr>
            <p:cNvPr id="28" name="TextBox 27"/>
            <p:cNvSpPr txBox="1"/>
            <p:nvPr/>
          </p:nvSpPr>
          <p:spPr>
            <a:xfrm>
              <a:off x="3663791" y="3819074"/>
              <a:ext cx="1841153" cy="2079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Roboto"/>
                </a:rPr>
                <a:t>AI가 하드웨어를 제어합니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63791" y="4027004"/>
              <a:ext cx="1841153" cy="2078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0">
                  <a:solidFill>
                    <a:srgbClr val="584053"/>
                  </a:solidFill>
                  <a:latin typeface="Roboto"/>
                </a:rPr>
                <a:t>다.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6435566" y="3819044"/>
            <a:ext cx="1886845" cy="20788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4053"/>
                </a:solidFill>
                <a:latin typeface="Roboto"/>
              </a:rPr>
              <a:t>AI가 데이터를 분석합니다.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49247" y="2204789"/>
            <a:ext cx="5645505" cy="9525"/>
          </a:xfrm>
          <a:custGeom>
            <a:avLst/>
            <a:gdLst/>
            <a:ahLst/>
            <a:cxnLst/>
            <a:rect l="0" t="0" r="0" b="0"/>
            <a:pathLst>
              <a:path w="5645505" h="9525">
                <a:moveTo>
                  <a:pt x="0" y="0"/>
                </a:moveTo>
                <a:lnTo>
                  <a:pt x="310838" y="0"/>
                </a:lnTo>
                <a:moveTo>
                  <a:pt x="5645505" y="0"/>
                </a:moveTo>
                <a:lnTo>
                  <a:pt x="5242255" y="0"/>
                </a:lnTo>
                <a:moveTo>
                  <a:pt x="5149844" y="0"/>
                </a:moveTo>
                <a:lnTo>
                  <a:pt x="3629254" y="0"/>
                </a:lnTo>
                <a:moveTo>
                  <a:pt x="3536842" y="0"/>
                </a:moveTo>
                <a:lnTo>
                  <a:pt x="2016252" y="0"/>
                </a:lnTo>
                <a:moveTo>
                  <a:pt x="403250" y="0"/>
                </a:moveTo>
                <a:lnTo>
                  <a:pt x="1923840" y="0"/>
                </a:lnTo>
              </a:path>
            </a:pathLst>
          </a:custGeom>
          <a:noFill/>
          <a:ln w="12601">
            <a:solidFill>
              <a:srgbClr val="58405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2060085" y="2145984"/>
            <a:ext cx="4931416" cy="117614"/>
            <a:chOff x="2060085" y="2145984"/>
            <a:chExt cx="4931416" cy="117614"/>
          </a:xfrm>
        </p:grpSpPr>
        <p:sp>
          <p:nvSpPr>
            <p:cNvPr id="3" name="Rounded Rectangle 2"/>
            <p:cNvSpPr/>
            <p:nvPr/>
          </p:nvSpPr>
          <p:spPr>
            <a:xfrm>
              <a:off x="2060085" y="2145984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673087" y="2145984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286089" y="2145984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899090" y="2145984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60085" y="2145983"/>
            <a:ext cx="4931416" cy="117614"/>
            <a:chOff x="2060085" y="2145983"/>
            <a:chExt cx="4931416" cy="117614"/>
          </a:xfrm>
        </p:grpSpPr>
        <p:sp>
          <p:nvSpPr>
            <p:cNvPr id="8" name="Rounded Rectangle 7"/>
            <p:cNvSpPr/>
            <p:nvPr/>
          </p:nvSpPr>
          <p:spPr>
            <a:xfrm>
              <a:off x="2060085" y="2145983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673087" y="2145983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286089" y="2145983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899090" y="2145983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690714" y="2263596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369646"/>
                </a:moveTo>
                <a:lnTo>
                  <a:pt x="649214" y="0"/>
                </a:lnTo>
                <a:lnTo>
                  <a:pt x="0" y="369646"/>
                </a:lnTo>
                <a:lnTo>
                  <a:pt x="0" y="1075334"/>
                </a:lnTo>
                <a:lnTo>
                  <a:pt x="649214" y="1444980"/>
                </a:lnTo>
                <a:lnTo>
                  <a:pt x="1310563" y="1075334"/>
                </a:lnTo>
                <a:lnTo>
                  <a:pt x="1310563" y="369646"/>
                </a:lnTo>
              </a:path>
            </a:pathLst>
          </a:custGeom>
          <a:solidFill>
            <a:srgbClr val="FF9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714" y="2263597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1075334"/>
                </a:moveTo>
                <a:lnTo>
                  <a:pt x="649214" y="1444980"/>
                </a:lnTo>
                <a:lnTo>
                  <a:pt x="0" y="1075334"/>
                </a:lnTo>
                <a:moveTo>
                  <a:pt x="0" y="369646"/>
                </a:moveTo>
                <a:lnTo>
                  <a:pt x="649214" y="0"/>
                </a:lnTo>
                <a:lnTo>
                  <a:pt x="1310563" y="369646"/>
                </a:lnTo>
                <a:moveTo>
                  <a:pt x="0" y="1075334"/>
                </a:moveTo>
                <a:lnTo>
                  <a:pt x="0" y="369646"/>
                </a:lnTo>
                <a:moveTo>
                  <a:pt x="1310563" y="369646"/>
                </a:moveTo>
                <a:lnTo>
                  <a:pt x="1310563" y="1075334"/>
                </a:lnTo>
              </a:path>
            </a:pathLst>
          </a:custGeom>
          <a:noFill/>
          <a:ln w="126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03715" y="2263596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369646"/>
                </a:moveTo>
                <a:lnTo>
                  <a:pt x="649214" y="0"/>
                </a:lnTo>
                <a:lnTo>
                  <a:pt x="0" y="369646"/>
                </a:lnTo>
                <a:lnTo>
                  <a:pt x="0" y="1075334"/>
                </a:lnTo>
                <a:lnTo>
                  <a:pt x="649214" y="1444980"/>
                </a:lnTo>
                <a:lnTo>
                  <a:pt x="1310563" y="1075334"/>
                </a:lnTo>
                <a:lnTo>
                  <a:pt x="1310563" y="369646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03715" y="2263597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1075334"/>
                </a:moveTo>
                <a:lnTo>
                  <a:pt x="649214" y="1444980"/>
                </a:lnTo>
                <a:lnTo>
                  <a:pt x="0" y="1075334"/>
                </a:lnTo>
                <a:moveTo>
                  <a:pt x="0" y="369646"/>
                </a:moveTo>
                <a:lnTo>
                  <a:pt x="649214" y="0"/>
                </a:lnTo>
                <a:lnTo>
                  <a:pt x="1310563" y="369646"/>
                </a:lnTo>
                <a:moveTo>
                  <a:pt x="0" y="1075334"/>
                </a:moveTo>
                <a:lnTo>
                  <a:pt x="0" y="369646"/>
                </a:lnTo>
                <a:moveTo>
                  <a:pt x="1310563" y="369646"/>
                </a:moveTo>
                <a:lnTo>
                  <a:pt x="1310563" y="1075334"/>
                </a:lnTo>
              </a:path>
            </a:pathLst>
          </a:custGeom>
          <a:noFill/>
          <a:ln w="126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16717" y="2263596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369646"/>
                </a:moveTo>
                <a:lnTo>
                  <a:pt x="649214" y="0"/>
                </a:lnTo>
                <a:lnTo>
                  <a:pt x="0" y="369646"/>
                </a:lnTo>
                <a:lnTo>
                  <a:pt x="0" y="1075334"/>
                </a:lnTo>
                <a:lnTo>
                  <a:pt x="649214" y="1444980"/>
                </a:lnTo>
                <a:lnTo>
                  <a:pt x="1310563" y="1075334"/>
                </a:lnTo>
                <a:lnTo>
                  <a:pt x="1310563" y="369646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16717" y="2263597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1075334"/>
                </a:moveTo>
                <a:lnTo>
                  <a:pt x="649214" y="1444980"/>
                </a:lnTo>
                <a:lnTo>
                  <a:pt x="0" y="1075334"/>
                </a:lnTo>
                <a:moveTo>
                  <a:pt x="0" y="369646"/>
                </a:moveTo>
                <a:lnTo>
                  <a:pt x="649214" y="0"/>
                </a:lnTo>
                <a:lnTo>
                  <a:pt x="1310563" y="369646"/>
                </a:lnTo>
                <a:moveTo>
                  <a:pt x="0" y="1075334"/>
                </a:moveTo>
                <a:lnTo>
                  <a:pt x="0" y="369646"/>
                </a:lnTo>
                <a:moveTo>
                  <a:pt x="1310563" y="369646"/>
                </a:moveTo>
                <a:lnTo>
                  <a:pt x="1310563" y="1075334"/>
                </a:lnTo>
              </a:path>
            </a:pathLst>
          </a:custGeom>
          <a:noFill/>
          <a:ln w="126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29719" y="2263596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369646"/>
                </a:moveTo>
                <a:lnTo>
                  <a:pt x="649214" y="0"/>
                </a:lnTo>
                <a:lnTo>
                  <a:pt x="0" y="369646"/>
                </a:lnTo>
                <a:lnTo>
                  <a:pt x="0" y="1075334"/>
                </a:lnTo>
                <a:lnTo>
                  <a:pt x="649214" y="1444980"/>
                </a:lnTo>
                <a:lnTo>
                  <a:pt x="1310563" y="1075334"/>
                </a:lnTo>
                <a:lnTo>
                  <a:pt x="1310563" y="369646"/>
                </a:ln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29719" y="2263597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1075334"/>
                </a:moveTo>
                <a:lnTo>
                  <a:pt x="649214" y="1444980"/>
                </a:lnTo>
                <a:lnTo>
                  <a:pt x="0" y="1075334"/>
                </a:lnTo>
                <a:moveTo>
                  <a:pt x="0" y="369646"/>
                </a:moveTo>
                <a:lnTo>
                  <a:pt x="649214" y="0"/>
                </a:lnTo>
                <a:lnTo>
                  <a:pt x="1310563" y="369646"/>
                </a:lnTo>
                <a:moveTo>
                  <a:pt x="0" y="1075334"/>
                </a:moveTo>
                <a:lnTo>
                  <a:pt x="0" y="369646"/>
                </a:lnTo>
                <a:moveTo>
                  <a:pt x="1310563" y="369646"/>
                </a:moveTo>
                <a:lnTo>
                  <a:pt x="1310563" y="1075334"/>
                </a:lnTo>
              </a:path>
            </a:pathLst>
          </a:custGeom>
          <a:noFill/>
          <a:ln w="126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42720" y="2263596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369646"/>
                </a:moveTo>
                <a:lnTo>
                  <a:pt x="649214" y="0"/>
                </a:lnTo>
                <a:lnTo>
                  <a:pt x="0" y="369646"/>
                </a:lnTo>
                <a:lnTo>
                  <a:pt x="0" y="1075334"/>
                </a:lnTo>
                <a:lnTo>
                  <a:pt x="649214" y="1444980"/>
                </a:lnTo>
                <a:lnTo>
                  <a:pt x="1310563" y="1075334"/>
                </a:lnTo>
                <a:lnTo>
                  <a:pt x="1310563" y="369646"/>
                </a:lnTo>
              </a:path>
            </a:pathLst>
          </a:custGeom>
          <a:solidFill>
            <a:srgbClr val="9BB6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42720" y="2263597"/>
            <a:ext cx="1310563" cy="1444980"/>
          </a:xfrm>
          <a:custGeom>
            <a:avLst/>
            <a:gdLst/>
            <a:ahLst/>
            <a:cxnLst/>
            <a:rect l="0" t="0" r="0" b="0"/>
            <a:pathLst>
              <a:path w="1310563" h="1444980">
                <a:moveTo>
                  <a:pt x="1310563" y="1075334"/>
                </a:moveTo>
                <a:lnTo>
                  <a:pt x="649214" y="1444980"/>
                </a:lnTo>
                <a:lnTo>
                  <a:pt x="0" y="1075334"/>
                </a:lnTo>
                <a:moveTo>
                  <a:pt x="0" y="369646"/>
                </a:moveTo>
                <a:lnTo>
                  <a:pt x="649214" y="0"/>
                </a:lnTo>
                <a:lnTo>
                  <a:pt x="1310563" y="369646"/>
                </a:lnTo>
                <a:moveTo>
                  <a:pt x="0" y="1075334"/>
                </a:moveTo>
                <a:lnTo>
                  <a:pt x="0" y="369646"/>
                </a:lnTo>
                <a:moveTo>
                  <a:pt x="1310563" y="369646"/>
                </a:moveTo>
                <a:lnTo>
                  <a:pt x="1310563" y="1075334"/>
                </a:lnTo>
              </a:path>
            </a:pathLst>
          </a:custGeom>
          <a:noFill/>
          <a:ln w="126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49247" y="3767383"/>
            <a:ext cx="5645505" cy="9525"/>
          </a:xfrm>
          <a:custGeom>
            <a:avLst/>
            <a:gdLst/>
            <a:ahLst/>
            <a:cxnLst/>
            <a:rect l="0" t="0" r="0" b="0"/>
            <a:pathLst>
              <a:path w="5645505" h="9525">
                <a:moveTo>
                  <a:pt x="0" y="0"/>
                </a:moveTo>
                <a:lnTo>
                  <a:pt x="310838" y="0"/>
                </a:lnTo>
                <a:moveTo>
                  <a:pt x="5645505" y="0"/>
                </a:moveTo>
                <a:lnTo>
                  <a:pt x="5242255" y="0"/>
                </a:lnTo>
                <a:moveTo>
                  <a:pt x="5149844" y="0"/>
                </a:moveTo>
                <a:lnTo>
                  <a:pt x="3629254" y="0"/>
                </a:lnTo>
                <a:moveTo>
                  <a:pt x="3536842" y="0"/>
                </a:moveTo>
                <a:lnTo>
                  <a:pt x="2016252" y="0"/>
                </a:lnTo>
                <a:moveTo>
                  <a:pt x="403250" y="0"/>
                </a:moveTo>
                <a:lnTo>
                  <a:pt x="1923840" y="0"/>
                </a:lnTo>
              </a:path>
            </a:pathLst>
          </a:custGeom>
          <a:noFill/>
          <a:ln w="12601">
            <a:solidFill>
              <a:srgbClr val="58405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8" name="Group 27"/>
          <p:cNvGrpSpPr/>
          <p:nvPr/>
        </p:nvGrpSpPr>
        <p:grpSpPr>
          <a:xfrm>
            <a:off x="2060085" y="3708578"/>
            <a:ext cx="4931416" cy="117614"/>
            <a:chOff x="2060085" y="3708578"/>
            <a:chExt cx="4931416" cy="117614"/>
          </a:xfrm>
        </p:grpSpPr>
        <p:sp>
          <p:nvSpPr>
            <p:cNvPr id="24" name="Rounded Rectangle 23"/>
            <p:cNvSpPr/>
            <p:nvPr/>
          </p:nvSpPr>
          <p:spPr>
            <a:xfrm>
              <a:off x="2060085" y="3708578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673087" y="3708578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286089" y="3708578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899090" y="3708578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060085" y="3708579"/>
            <a:ext cx="4931416" cy="117614"/>
            <a:chOff x="2060085" y="3708579"/>
            <a:chExt cx="4931416" cy="117614"/>
          </a:xfrm>
        </p:grpSpPr>
        <p:sp>
          <p:nvSpPr>
            <p:cNvPr id="29" name="Rounded Rectangle 28"/>
            <p:cNvSpPr/>
            <p:nvPr/>
          </p:nvSpPr>
          <p:spPr>
            <a:xfrm>
              <a:off x="2060085" y="3708579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673087" y="3708579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286089" y="3708579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899090" y="3708579"/>
              <a:ext cx="92411" cy="117614"/>
            </a:xfrm>
            <a:custGeom>
              <a:avLst/>
              <a:gdLst/>
              <a:ahLst/>
              <a:cxnLst/>
              <a:rect l="0" t="0" r="0" b="0"/>
              <a:pathLst>
                <a:path w="92411" h="117614">
                  <a:moveTo>
                    <a:pt x="92411" y="58807"/>
                  </a:moveTo>
                  <a:lnTo>
                    <a:pt x="0" y="117614"/>
                  </a:lnTo>
                  <a:lnTo>
                    <a:pt x="0" y="0"/>
                  </a:lnTo>
                  <a:lnTo>
                    <a:pt x="92411" y="58807"/>
                  </a:lnTo>
                  <a:close/>
                </a:path>
              </a:pathLst>
            </a:custGeom>
            <a:noFill/>
            <a:ln w="12601">
              <a:solidFill>
                <a:srgbClr val="EEEAD7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602042" y="1776335"/>
            <a:ext cx="1165917" cy="151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584053"/>
                </a:solidFill>
                <a:latin typeface="Roboto"/>
              </a:rPr>
              <a:t>사료 잔량 부족 시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89041" y="1776335"/>
            <a:ext cx="1165917" cy="151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584053"/>
                </a:solidFill>
                <a:latin typeface="Roboto"/>
              </a:rPr>
              <a:t>식사 속도 및 빈도 분석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2368895" y="1776336"/>
            <a:ext cx="1180204" cy="302428"/>
            <a:chOff x="2368895" y="1776336"/>
            <a:chExt cx="1180204" cy="302428"/>
          </a:xfrm>
        </p:grpSpPr>
        <p:sp>
          <p:nvSpPr>
            <p:cNvPr id="36" name="TextBox 35"/>
            <p:cNvSpPr txBox="1"/>
            <p:nvPr/>
          </p:nvSpPr>
          <p:spPr>
            <a:xfrm>
              <a:off x="2368895" y="1776336"/>
              <a:ext cx="1180204" cy="151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로드셀 센서로 1g 단위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368895" y="1927593"/>
              <a:ext cx="1180204" cy="1511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측정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85364" y="2885274"/>
            <a:ext cx="1121273" cy="201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584053"/>
                </a:solidFill>
                <a:latin typeface="Roboto"/>
              </a:rPr>
              <a:t>부정확한 급여량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9642" y="2885274"/>
            <a:ext cx="658710" cy="201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584053"/>
                </a:solidFill>
                <a:latin typeface="Roboto"/>
              </a:rPr>
              <a:t>정밀 측정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42643" y="2885274"/>
            <a:ext cx="658710" cy="201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584053"/>
                </a:solidFill>
                <a:latin typeface="Roboto"/>
              </a:rPr>
              <a:t>패턴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8550" y="2885274"/>
            <a:ext cx="812901" cy="201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00" b="1">
                <a:solidFill>
                  <a:srgbClr val="584053"/>
                </a:solidFill>
                <a:latin typeface="Roboto"/>
              </a:rPr>
              <a:t>스마트 알림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7216530" y="2784443"/>
            <a:ext cx="1162945" cy="403287"/>
            <a:chOff x="7216530" y="2784443"/>
            <a:chExt cx="1162945" cy="403287"/>
          </a:xfrm>
        </p:grpSpPr>
        <p:sp>
          <p:nvSpPr>
            <p:cNvPr id="43" name="TextBox 42"/>
            <p:cNvSpPr txBox="1"/>
            <p:nvPr/>
          </p:nvSpPr>
          <p:spPr>
            <a:xfrm>
              <a:off x="7216530" y="2784443"/>
              <a:ext cx="1162945" cy="201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584053"/>
                  </a:solidFill>
                  <a:latin typeface="Roboto"/>
                </a:rPr>
                <a:t>최적의 급여 스케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16530" y="2986087"/>
              <a:ext cx="1162945" cy="20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584053"/>
                  </a:solidFill>
                  <a:latin typeface="Roboto"/>
                </a:rPr>
                <a:t>줄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366718" y="371475"/>
            <a:ext cx="2386755" cy="457200"/>
            <a:chOff x="6366718" y="371475"/>
            <a:chExt cx="2386755" cy="457200"/>
          </a:xfrm>
        </p:grpSpPr>
        <p:sp>
          <p:nvSpPr>
            <p:cNvPr id="46" name="TextBox 45"/>
            <p:cNvSpPr txBox="1"/>
            <p:nvPr/>
          </p:nvSpPr>
          <p:spPr>
            <a:xfrm>
              <a:off x="6366718" y="371475"/>
              <a:ext cx="23867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사료 잔량 부족 시 보호자 앱 알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366718" y="600075"/>
              <a:ext cx="23867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0">
                  <a:solidFill>
                    <a:srgbClr val="584053"/>
                  </a:solidFill>
                  <a:latin typeface="Roboto"/>
                </a:rPr>
                <a:t>림 및 이커머스 자동 주문 연동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90525" y="371475"/>
            <a:ext cx="5470178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584053"/>
                </a:solidFill>
                <a:latin typeface="Shantell Sans"/>
              </a:rPr>
              <a:t>주요 기능 1: 스마트 자율 급식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28258" y="3893401"/>
            <a:ext cx="1103556" cy="302428"/>
            <a:chOff x="828258" y="3893401"/>
            <a:chExt cx="1103556" cy="302428"/>
          </a:xfrm>
        </p:grpSpPr>
        <p:sp>
          <p:nvSpPr>
            <p:cNvPr id="50" name="TextBox 49"/>
            <p:cNvSpPr txBox="1"/>
            <p:nvPr/>
          </p:nvSpPr>
          <p:spPr>
            <a:xfrm>
              <a:off x="828258" y="3893401"/>
              <a:ext cx="1103556" cy="151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급여량 측정의 부정확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28258" y="4044658"/>
              <a:ext cx="1103556" cy="1511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성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7215044" y="3893401"/>
            <a:ext cx="1165917" cy="302428"/>
            <a:chOff x="7215044" y="3893401"/>
            <a:chExt cx="1165917" cy="302428"/>
          </a:xfrm>
        </p:grpSpPr>
        <p:sp>
          <p:nvSpPr>
            <p:cNvPr id="53" name="TextBox 52"/>
            <p:cNvSpPr txBox="1"/>
            <p:nvPr/>
          </p:nvSpPr>
          <p:spPr>
            <a:xfrm>
              <a:off x="7215044" y="3893401"/>
              <a:ext cx="1165917" cy="151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맞춤형 식단 관리 및 자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15044" y="4044658"/>
              <a:ext cx="1165917" cy="1511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584053"/>
                  </a:solidFill>
                  <a:latin typeface="Roboto"/>
                </a:rPr>
                <a:t>동 급식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081121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28592" y="714375"/>
            <a:ext cx="3843937" cy="1085850"/>
          </a:xfrm>
          <a:custGeom>
            <a:avLst/>
            <a:gdLst/>
            <a:ahLst/>
            <a:cxnLst/>
            <a:rect l="0" t="0" r="0" b="0"/>
            <a:pathLst>
              <a:path w="3843937" h="1085850">
                <a:moveTo>
                  <a:pt x="3843937" y="971550"/>
                </a:moveTo>
                <a:cubicBezTo>
                  <a:pt x="3843937" y="1034672"/>
                  <a:pt x="3792759" y="1085850"/>
                  <a:pt x="3729637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29637" y="0"/>
                </a:lnTo>
                <a:cubicBezTo>
                  <a:pt x="3792759" y="0"/>
                  <a:pt x="3843937" y="51177"/>
                  <a:pt x="3843937" y="114300"/>
                </a:cubicBezTo>
                <a:lnTo>
                  <a:pt x="3843937" y="971550"/>
                </a:lnTo>
              </a:path>
            </a:pathLst>
          </a:custGeom>
          <a:solidFill>
            <a:srgbClr val="EEEA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28592" y="714375"/>
            <a:ext cx="3843937" cy="1085850"/>
          </a:xfrm>
          <a:custGeom>
            <a:avLst/>
            <a:gdLst/>
            <a:ahLst/>
            <a:cxnLst/>
            <a:rect l="0" t="0" r="0" b="0"/>
            <a:pathLst>
              <a:path w="3843937" h="1085850">
                <a:moveTo>
                  <a:pt x="3843937" y="971550"/>
                </a:moveTo>
                <a:cubicBezTo>
                  <a:pt x="3843937" y="1034672"/>
                  <a:pt x="3792759" y="1085850"/>
                  <a:pt x="3729637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29637" y="0"/>
                </a:lnTo>
                <a:cubicBezTo>
                  <a:pt x="3792759" y="0"/>
                  <a:pt x="3843937" y="51177"/>
                  <a:pt x="3843937" y="114300"/>
                </a:cubicBezTo>
                <a:lnTo>
                  <a:pt x="3843937" y="971550"/>
                </a:ln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28592" y="714374"/>
            <a:ext cx="3843932" cy="1085850"/>
          </a:xfrm>
          <a:custGeom>
            <a:avLst/>
            <a:gdLst/>
            <a:ahLst/>
            <a:cxnLst/>
            <a:rect l="0" t="0" r="0" b="0"/>
            <a:pathLst>
              <a:path w="3843932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29632" y="0"/>
                </a:moveTo>
                <a:lnTo>
                  <a:pt x="114300" y="0"/>
                </a:lnTo>
                <a:moveTo>
                  <a:pt x="3843932" y="114300"/>
                </a:moveTo>
                <a:cubicBezTo>
                  <a:pt x="3843932" y="51174"/>
                  <a:pt x="3792758" y="0"/>
                  <a:pt x="3729632" y="0"/>
                </a:cubicBezTo>
                <a:moveTo>
                  <a:pt x="3843932" y="971550"/>
                </a:moveTo>
                <a:lnTo>
                  <a:pt x="3843932" y="114300"/>
                </a:lnTo>
                <a:moveTo>
                  <a:pt x="3729632" y="1085850"/>
                </a:moveTo>
                <a:cubicBezTo>
                  <a:pt x="3792758" y="1085850"/>
                  <a:pt x="3843932" y="1034675"/>
                  <a:pt x="3843932" y="971550"/>
                </a:cubicBezTo>
                <a:moveTo>
                  <a:pt x="3729632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28592" y="2028825"/>
            <a:ext cx="3843937" cy="1085850"/>
          </a:xfrm>
          <a:custGeom>
            <a:avLst/>
            <a:gdLst/>
            <a:ahLst/>
            <a:cxnLst/>
            <a:rect l="0" t="0" r="0" b="0"/>
            <a:pathLst>
              <a:path w="3843937" h="1085850">
                <a:moveTo>
                  <a:pt x="3843937" y="971550"/>
                </a:moveTo>
                <a:cubicBezTo>
                  <a:pt x="3843937" y="1034672"/>
                  <a:pt x="3792759" y="1085850"/>
                  <a:pt x="3729637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29637" y="0"/>
                </a:lnTo>
                <a:cubicBezTo>
                  <a:pt x="3792759" y="0"/>
                  <a:pt x="3843937" y="51177"/>
                  <a:pt x="3843937" y="114300"/>
                </a:cubicBezTo>
                <a:lnTo>
                  <a:pt x="3843937" y="971550"/>
                </a:lnTo>
              </a:path>
            </a:pathLst>
          </a:custGeom>
          <a:solidFill>
            <a:srgbClr val="EEEA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28592" y="2028825"/>
            <a:ext cx="3843937" cy="1085850"/>
          </a:xfrm>
          <a:custGeom>
            <a:avLst/>
            <a:gdLst/>
            <a:ahLst/>
            <a:cxnLst/>
            <a:rect l="0" t="0" r="0" b="0"/>
            <a:pathLst>
              <a:path w="3843937" h="1085850">
                <a:moveTo>
                  <a:pt x="3843937" y="971550"/>
                </a:moveTo>
                <a:cubicBezTo>
                  <a:pt x="3843937" y="1034672"/>
                  <a:pt x="3792759" y="1085850"/>
                  <a:pt x="3729637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29637" y="0"/>
                </a:lnTo>
                <a:cubicBezTo>
                  <a:pt x="3792759" y="0"/>
                  <a:pt x="3843937" y="51177"/>
                  <a:pt x="3843937" y="114300"/>
                </a:cubicBezTo>
                <a:lnTo>
                  <a:pt x="3843937" y="971550"/>
                </a:ln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28592" y="2028824"/>
            <a:ext cx="3843932" cy="1085850"/>
          </a:xfrm>
          <a:custGeom>
            <a:avLst/>
            <a:gdLst/>
            <a:ahLst/>
            <a:cxnLst/>
            <a:rect l="0" t="0" r="0" b="0"/>
            <a:pathLst>
              <a:path w="3843932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29632" y="0"/>
                </a:moveTo>
                <a:lnTo>
                  <a:pt x="114300" y="0"/>
                </a:lnTo>
                <a:moveTo>
                  <a:pt x="3843932" y="114300"/>
                </a:moveTo>
                <a:cubicBezTo>
                  <a:pt x="3843932" y="51174"/>
                  <a:pt x="3792758" y="0"/>
                  <a:pt x="3729632" y="0"/>
                </a:cubicBezTo>
                <a:moveTo>
                  <a:pt x="3843932" y="971550"/>
                </a:moveTo>
                <a:lnTo>
                  <a:pt x="3843932" y="114300"/>
                </a:lnTo>
                <a:moveTo>
                  <a:pt x="3729632" y="1085850"/>
                </a:moveTo>
                <a:cubicBezTo>
                  <a:pt x="3792758" y="1085850"/>
                  <a:pt x="3843932" y="1034675"/>
                  <a:pt x="3843932" y="971550"/>
                </a:cubicBezTo>
                <a:moveTo>
                  <a:pt x="3729632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28592" y="3343275"/>
            <a:ext cx="3843937" cy="1085850"/>
          </a:xfrm>
          <a:custGeom>
            <a:avLst/>
            <a:gdLst/>
            <a:ahLst/>
            <a:cxnLst/>
            <a:rect l="0" t="0" r="0" b="0"/>
            <a:pathLst>
              <a:path w="3843937" h="1085850">
                <a:moveTo>
                  <a:pt x="3843937" y="971550"/>
                </a:moveTo>
                <a:cubicBezTo>
                  <a:pt x="3843937" y="1034672"/>
                  <a:pt x="3792759" y="1085850"/>
                  <a:pt x="3729637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29637" y="0"/>
                </a:lnTo>
                <a:cubicBezTo>
                  <a:pt x="3792759" y="0"/>
                  <a:pt x="3843937" y="51177"/>
                  <a:pt x="3843937" y="114300"/>
                </a:cubicBezTo>
                <a:lnTo>
                  <a:pt x="3843937" y="971550"/>
                </a:lnTo>
              </a:path>
            </a:pathLst>
          </a:custGeom>
          <a:solidFill>
            <a:srgbClr val="EEEA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28592" y="3343275"/>
            <a:ext cx="3843937" cy="1085850"/>
          </a:xfrm>
          <a:custGeom>
            <a:avLst/>
            <a:gdLst/>
            <a:ahLst/>
            <a:cxnLst/>
            <a:rect l="0" t="0" r="0" b="0"/>
            <a:pathLst>
              <a:path w="3843937" h="1085850">
                <a:moveTo>
                  <a:pt x="3843937" y="971550"/>
                </a:moveTo>
                <a:cubicBezTo>
                  <a:pt x="3843937" y="1034672"/>
                  <a:pt x="3792759" y="1085850"/>
                  <a:pt x="3729637" y="1085850"/>
                </a:cubicBezTo>
                <a:lnTo>
                  <a:pt x="114300" y="1085850"/>
                </a:lnTo>
                <a:cubicBezTo>
                  <a:pt x="51177" y="1085850"/>
                  <a:pt x="0" y="1034672"/>
                  <a:pt x="0" y="9715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29637" y="0"/>
                </a:lnTo>
                <a:cubicBezTo>
                  <a:pt x="3792759" y="0"/>
                  <a:pt x="3843937" y="51177"/>
                  <a:pt x="3843937" y="114300"/>
                </a:cubicBezTo>
                <a:lnTo>
                  <a:pt x="3843937" y="971550"/>
                </a:ln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28592" y="3343274"/>
            <a:ext cx="3843932" cy="1085850"/>
          </a:xfrm>
          <a:custGeom>
            <a:avLst/>
            <a:gdLst/>
            <a:ahLst/>
            <a:cxnLst/>
            <a:rect l="0" t="0" r="0" b="0"/>
            <a:pathLst>
              <a:path w="3843932" h="10858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29632" y="0"/>
                </a:moveTo>
                <a:lnTo>
                  <a:pt x="114300" y="0"/>
                </a:lnTo>
                <a:moveTo>
                  <a:pt x="3843932" y="114300"/>
                </a:moveTo>
                <a:cubicBezTo>
                  <a:pt x="3843932" y="51174"/>
                  <a:pt x="3792758" y="0"/>
                  <a:pt x="3729632" y="0"/>
                </a:cubicBezTo>
                <a:moveTo>
                  <a:pt x="3843932" y="971550"/>
                </a:moveTo>
                <a:lnTo>
                  <a:pt x="3843932" y="114300"/>
                </a:lnTo>
                <a:moveTo>
                  <a:pt x="3729632" y="1085850"/>
                </a:moveTo>
                <a:cubicBezTo>
                  <a:pt x="3792758" y="1085850"/>
                  <a:pt x="3843932" y="1034675"/>
                  <a:pt x="3843932" y="971550"/>
                </a:cubicBezTo>
                <a:moveTo>
                  <a:pt x="3729632" y="1085850"/>
                </a:moveTo>
                <a:lnTo>
                  <a:pt x="114300" y="1085850"/>
                </a:lnTo>
                <a:moveTo>
                  <a:pt x="114300" y="1085850"/>
                </a:moveTo>
                <a:cubicBezTo>
                  <a:pt x="51174" y="1085850"/>
                  <a:pt x="0" y="1034675"/>
                  <a:pt x="0" y="971550"/>
                </a:cubicBezTo>
                <a:moveTo>
                  <a:pt x="0" y="9715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4" name="Group 13"/>
          <p:cNvGrpSpPr/>
          <p:nvPr/>
        </p:nvGrpSpPr>
        <p:grpSpPr>
          <a:xfrm>
            <a:off x="390525" y="371475"/>
            <a:ext cx="3943645" cy="800100"/>
            <a:chOff x="390525" y="371475"/>
            <a:chExt cx="3943645" cy="800100"/>
          </a:xfrm>
        </p:grpSpPr>
        <p:sp>
          <p:nvSpPr>
            <p:cNvPr id="12" name="TextBox 11"/>
            <p:cNvSpPr txBox="1"/>
            <p:nvPr/>
          </p:nvSpPr>
          <p:spPr>
            <a:xfrm>
              <a:off x="390525" y="371475"/>
              <a:ext cx="394364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584053"/>
                  </a:solidFill>
                  <a:latin typeface="Shantell Sans"/>
                </a:rPr>
                <a:t>주요 기능 2: 행동 및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0525" y="771525"/>
              <a:ext cx="3943645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584053"/>
                  </a:solidFill>
                  <a:latin typeface="Shantell Sans"/>
                </a:rPr>
                <a:t>건강 모니터링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138142" y="904875"/>
            <a:ext cx="748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584053"/>
                </a:solidFill>
                <a:latin typeface="Roboto"/>
              </a:rPr>
              <a:t>이상 감지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138142" y="1228725"/>
            <a:ext cx="3315300" cy="381000"/>
            <a:chOff x="5138142" y="1228725"/>
            <a:chExt cx="3315300" cy="381000"/>
          </a:xfrm>
        </p:grpSpPr>
        <p:sp>
          <p:nvSpPr>
            <p:cNvPr id="16" name="TextBox 15"/>
            <p:cNvSpPr txBox="1"/>
            <p:nvPr/>
          </p:nvSpPr>
          <p:spPr>
            <a:xfrm>
              <a:off x="5138142" y="1228725"/>
              <a:ext cx="33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AI 영상 분석으로 구토, 무기력증 등 이상 징후 실시간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38142" y="1419225"/>
              <a:ext cx="33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포착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138142" y="2219325"/>
            <a:ext cx="92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584053"/>
                </a:solidFill>
                <a:latin typeface="Roboto"/>
              </a:rPr>
              <a:t>활동량 추적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138142" y="2543175"/>
            <a:ext cx="3424837" cy="381000"/>
            <a:chOff x="5138142" y="2543175"/>
            <a:chExt cx="3424837" cy="381000"/>
          </a:xfrm>
        </p:grpSpPr>
        <p:sp>
          <p:nvSpPr>
            <p:cNvPr id="20" name="TextBox 19"/>
            <p:cNvSpPr txBox="1"/>
            <p:nvPr/>
          </p:nvSpPr>
          <p:spPr>
            <a:xfrm>
              <a:off x="5138142" y="2543175"/>
              <a:ext cx="342483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가속도 센서를 활용한 일일 활동량 데이터 수집 및 건강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38142" y="2733675"/>
              <a:ext cx="342483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리포트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138142" y="3533775"/>
            <a:ext cx="92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584053"/>
                </a:solidFill>
                <a:latin typeface="Roboto"/>
              </a:rPr>
              <a:t>양방향 소통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138142" y="3857625"/>
            <a:ext cx="3311423" cy="381000"/>
            <a:chOff x="5138142" y="3857625"/>
            <a:chExt cx="3311423" cy="381000"/>
          </a:xfrm>
        </p:grpSpPr>
        <p:sp>
          <p:nvSpPr>
            <p:cNvPr id="24" name="TextBox 23"/>
            <p:cNvSpPr txBox="1"/>
            <p:nvPr/>
          </p:nvSpPr>
          <p:spPr>
            <a:xfrm>
              <a:off x="5138142" y="3857625"/>
              <a:ext cx="331142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고화질 스트리밍과 스피커를 통해 부재 중에도 보호자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138142" y="4048125"/>
              <a:ext cx="331142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584053"/>
                  </a:solidFill>
                  <a:latin typeface="Roboto"/>
                </a:rPr>
                <a:t>의 목소리 전달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90525" y="4543425"/>
            <a:ext cx="34391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584053"/>
                </a:solidFill>
                <a:latin typeface="Roboto"/>
              </a:rPr>
              <a:t>AI 카메라와 센서를 활용한 실시간 상태 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A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61407" y="1272608"/>
            <a:ext cx="2559758" cy="3110588"/>
          </a:xfrm>
          <a:custGeom>
            <a:avLst/>
            <a:gdLst/>
            <a:ahLst/>
            <a:cxnLst/>
            <a:rect l="0" t="0" r="0" b="0"/>
            <a:pathLst>
              <a:path w="2559758" h="3110588">
                <a:moveTo>
                  <a:pt x="0" y="388820"/>
                </a:moveTo>
                <a:lnTo>
                  <a:pt x="1458087" y="0"/>
                </a:lnTo>
                <a:lnTo>
                  <a:pt x="2559758" y="0"/>
                </a:lnTo>
                <a:lnTo>
                  <a:pt x="2073725" y="388820"/>
                </a:lnTo>
                <a:lnTo>
                  <a:pt x="2073725" y="2721768"/>
                </a:lnTo>
                <a:lnTo>
                  <a:pt x="1036862" y="3110588"/>
                </a:lnTo>
                <a:lnTo>
                  <a:pt x="0" y="2721768"/>
                </a:lnTo>
                <a:lnTo>
                  <a:pt x="0" y="518426"/>
                </a:lnTo>
                <a:cubicBezTo>
                  <a:pt x="0" y="446846"/>
                  <a:pt x="0" y="388820"/>
                  <a:pt x="0" y="388820"/>
                </a:cubicBezTo>
              </a:path>
            </a:pathLst>
          </a:custGeom>
          <a:solidFill>
            <a:srgbClr val="E3C4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1407" y="1272607"/>
            <a:ext cx="2559758" cy="3110592"/>
          </a:xfrm>
          <a:custGeom>
            <a:avLst/>
            <a:gdLst/>
            <a:ahLst/>
            <a:cxnLst/>
            <a:rect l="0" t="0" r="0" b="0"/>
            <a:pathLst>
              <a:path w="2559758" h="3110592">
                <a:moveTo>
                  <a:pt x="2073728" y="518432"/>
                </a:moveTo>
                <a:lnTo>
                  <a:pt x="2073728" y="388824"/>
                </a:lnTo>
                <a:lnTo>
                  <a:pt x="1" y="388824"/>
                </a:lnTo>
                <a:lnTo>
                  <a:pt x="0" y="518432"/>
                </a:lnTo>
                <a:moveTo>
                  <a:pt x="2073728" y="388824"/>
                </a:moveTo>
                <a:lnTo>
                  <a:pt x="2559758" y="0"/>
                </a:lnTo>
                <a:lnTo>
                  <a:pt x="1458090" y="0"/>
                </a:lnTo>
                <a:lnTo>
                  <a:pt x="0" y="388824"/>
                </a:lnTo>
                <a:moveTo>
                  <a:pt x="2073728" y="2592157"/>
                </a:moveTo>
                <a:lnTo>
                  <a:pt x="2073728" y="518432"/>
                </a:lnTo>
                <a:moveTo>
                  <a:pt x="0" y="2592157"/>
                </a:moveTo>
                <a:lnTo>
                  <a:pt x="0" y="518432"/>
                </a:lnTo>
                <a:moveTo>
                  <a:pt x="2073728" y="2592160"/>
                </a:moveTo>
                <a:lnTo>
                  <a:pt x="2073728" y="2721768"/>
                </a:lnTo>
                <a:lnTo>
                  <a:pt x="1036864" y="3110592"/>
                </a:lnTo>
                <a:lnTo>
                  <a:pt x="0" y="2721768"/>
                </a:lnTo>
                <a:lnTo>
                  <a:pt x="0" y="2592160"/>
                </a:lnTo>
              </a:path>
            </a:pathLst>
          </a:custGeom>
          <a:noFill/>
          <a:ln w="162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35135" y="1272608"/>
            <a:ext cx="2073725" cy="3369811"/>
          </a:xfrm>
          <a:custGeom>
            <a:avLst/>
            <a:gdLst/>
            <a:ahLst/>
            <a:cxnLst/>
            <a:rect l="0" t="0" r="0" b="0"/>
            <a:pathLst>
              <a:path w="2073725" h="3369811">
                <a:moveTo>
                  <a:pt x="0" y="388820"/>
                </a:moveTo>
                <a:lnTo>
                  <a:pt x="486032" y="0"/>
                </a:lnTo>
                <a:lnTo>
                  <a:pt x="1587703" y="0"/>
                </a:lnTo>
                <a:lnTo>
                  <a:pt x="2073725" y="388820"/>
                </a:lnTo>
                <a:lnTo>
                  <a:pt x="2073725" y="2980982"/>
                </a:lnTo>
                <a:lnTo>
                  <a:pt x="1036862" y="3369811"/>
                </a:lnTo>
                <a:lnTo>
                  <a:pt x="0" y="2980982"/>
                </a:lnTo>
                <a:lnTo>
                  <a:pt x="0" y="518426"/>
                </a:lnTo>
                <a:cubicBezTo>
                  <a:pt x="0" y="446846"/>
                  <a:pt x="0" y="388820"/>
                  <a:pt x="0" y="388820"/>
                </a:cubicBezTo>
              </a:path>
            </a:pathLst>
          </a:custGeom>
          <a:solidFill>
            <a:srgbClr val="FCBC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35135" y="1272607"/>
            <a:ext cx="2073728" cy="3369808"/>
          </a:xfrm>
          <a:custGeom>
            <a:avLst/>
            <a:gdLst/>
            <a:ahLst/>
            <a:cxnLst/>
            <a:rect l="0" t="0" r="0" b="0"/>
            <a:pathLst>
              <a:path w="2073728" h="3369808">
                <a:moveTo>
                  <a:pt x="2073728" y="518432"/>
                </a:moveTo>
                <a:lnTo>
                  <a:pt x="2073728" y="388824"/>
                </a:lnTo>
                <a:lnTo>
                  <a:pt x="1" y="388824"/>
                </a:lnTo>
                <a:lnTo>
                  <a:pt x="0" y="518432"/>
                </a:lnTo>
                <a:moveTo>
                  <a:pt x="2073728" y="388824"/>
                </a:moveTo>
                <a:lnTo>
                  <a:pt x="1587698" y="0"/>
                </a:lnTo>
                <a:lnTo>
                  <a:pt x="486030" y="0"/>
                </a:lnTo>
                <a:lnTo>
                  <a:pt x="0" y="388824"/>
                </a:lnTo>
                <a:moveTo>
                  <a:pt x="2073728" y="2592157"/>
                </a:moveTo>
                <a:lnTo>
                  <a:pt x="2073728" y="518432"/>
                </a:lnTo>
                <a:moveTo>
                  <a:pt x="0" y="2592157"/>
                </a:moveTo>
                <a:lnTo>
                  <a:pt x="0" y="518432"/>
                </a:lnTo>
                <a:moveTo>
                  <a:pt x="2073728" y="2592160"/>
                </a:moveTo>
                <a:lnTo>
                  <a:pt x="2073728" y="2980985"/>
                </a:lnTo>
                <a:lnTo>
                  <a:pt x="1036864" y="3369808"/>
                </a:lnTo>
                <a:lnTo>
                  <a:pt x="0" y="2980985"/>
                </a:lnTo>
                <a:lnTo>
                  <a:pt x="0" y="2592160"/>
                </a:lnTo>
              </a:path>
            </a:pathLst>
          </a:custGeom>
          <a:noFill/>
          <a:ln w="162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2834" y="1272608"/>
            <a:ext cx="2559758" cy="3102683"/>
          </a:xfrm>
          <a:custGeom>
            <a:avLst/>
            <a:gdLst/>
            <a:ahLst/>
            <a:cxnLst/>
            <a:rect l="0" t="0" r="0" b="0"/>
            <a:pathLst>
              <a:path w="2559758" h="3102683">
                <a:moveTo>
                  <a:pt x="486032" y="388820"/>
                </a:moveTo>
                <a:lnTo>
                  <a:pt x="0" y="0"/>
                </a:lnTo>
                <a:lnTo>
                  <a:pt x="1101671" y="0"/>
                </a:lnTo>
                <a:lnTo>
                  <a:pt x="2559758" y="388820"/>
                </a:lnTo>
                <a:lnTo>
                  <a:pt x="2559758" y="2636300"/>
                </a:lnTo>
                <a:cubicBezTo>
                  <a:pt x="2559758" y="2688155"/>
                  <a:pt x="2528858" y="2735008"/>
                  <a:pt x="2481205" y="2755430"/>
                </a:cubicBezTo>
                <a:lnTo>
                  <a:pt x="1573949" y="3088709"/>
                </a:lnTo>
                <a:cubicBezTo>
                  <a:pt x="1541345" y="3102683"/>
                  <a:pt x="1504445" y="3102683"/>
                  <a:pt x="1471841" y="3088709"/>
                </a:cubicBezTo>
                <a:lnTo>
                  <a:pt x="564584" y="2755430"/>
                </a:lnTo>
                <a:cubicBezTo>
                  <a:pt x="516931" y="2735008"/>
                  <a:pt x="486032" y="2688155"/>
                  <a:pt x="486032" y="2636300"/>
                </a:cubicBezTo>
                <a:lnTo>
                  <a:pt x="486032" y="518426"/>
                </a:lnTo>
                <a:cubicBezTo>
                  <a:pt x="486032" y="446846"/>
                  <a:pt x="486032" y="388820"/>
                  <a:pt x="486032" y="388820"/>
                </a:cubicBezTo>
              </a:path>
            </a:pathLst>
          </a:custGeom>
          <a:solidFill>
            <a:srgbClr val="FF9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2834" y="1272607"/>
            <a:ext cx="2559758" cy="3110592"/>
          </a:xfrm>
          <a:custGeom>
            <a:avLst/>
            <a:gdLst/>
            <a:ahLst/>
            <a:cxnLst/>
            <a:rect l="0" t="0" r="0" b="0"/>
            <a:pathLst>
              <a:path w="2559758" h="3110592">
                <a:moveTo>
                  <a:pt x="2559758" y="518432"/>
                </a:moveTo>
                <a:lnTo>
                  <a:pt x="2559758" y="388824"/>
                </a:lnTo>
                <a:lnTo>
                  <a:pt x="486030" y="388824"/>
                </a:lnTo>
                <a:lnTo>
                  <a:pt x="486029" y="518432"/>
                </a:lnTo>
                <a:moveTo>
                  <a:pt x="2559758" y="388824"/>
                </a:moveTo>
                <a:lnTo>
                  <a:pt x="1101667" y="0"/>
                </a:lnTo>
                <a:lnTo>
                  <a:pt x="0" y="0"/>
                </a:lnTo>
                <a:lnTo>
                  <a:pt x="486030" y="388824"/>
                </a:lnTo>
                <a:moveTo>
                  <a:pt x="2559758" y="2592157"/>
                </a:moveTo>
                <a:lnTo>
                  <a:pt x="2559758" y="518432"/>
                </a:lnTo>
                <a:moveTo>
                  <a:pt x="486029" y="2592157"/>
                </a:moveTo>
                <a:lnTo>
                  <a:pt x="486029" y="518432"/>
                </a:lnTo>
                <a:moveTo>
                  <a:pt x="2559758" y="2592160"/>
                </a:moveTo>
                <a:lnTo>
                  <a:pt x="2559758" y="2721768"/>
                </a:lnTo>
                <a:lnTo>
                  <a:pt x="1522894" y="3110592"/>
                </a:lnTo>
                <a:lnTo>
                  <a:pt x="486029" y="2721768"/>
                </a:lnTo>
                <a:lnTo>
                  <a:pt x="486029" y="2592160"/>
                </a:lnTo>
              </a:path>
            </a:pathLst>
          </a:custGeom>
          <a:noFill/>
          <a:ln w="16201">
            <a:solidFill>
              <a:srgbClr val="EEEA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7441" y="371475"/>
            <a:ext cx="1769116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584053"/>
                </a:solidFill>
                <a:latin typeface="Shantell Sans"/>
              </a:rPr>
              <a:t>기대 효과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02" y="1940899"/>
            <a:ext cx="602939" cy="596780"/>
          </a:xfrm>
          <a:custGeom>
            <a:avLst/>
            <a:gdLst/>
            <a:ahLst/>
            <a:cxnLst/>
            <a:rect l="0" t="0" r="0" b="0"/>
            <a:pathLst>
              <a:path w="602939" h="596780">
                <a:moveTo>
                  <a:pt x="81005" y="162010"/>
                </a:moveTo>
                <a:cubicBezTo>
                  <a:pt x="125742" y="162010"/>
                  <a:pt x="162010" y="125742"/>
                  <a:pt x="162010" y="81005"/>
                </a:cubicBezTo>
                <a:cubicBezTo>
                  <a:pt x="162010" y="36267"/>
                  <a:pt x="125742" y="0"/>
                  <a:pt x="81005" y="0"/>
                </a:cubicBezTo>
                <a:cubicBezTo>
                  <a:pt x="36267" y="0"/>
                  <a:pt x="0" y="36267"/>
                  <a:pt x="0" y="81005"/>
                </a:cubicBezTo>
                <a:cubicBezTo>
                  <a:pt x="0" y="125742"/>
                  <a:pt x="36267" y="162010"/>
                  <a:pt x="81005" y="162010"/>
                </a:cubicBezTo>
                <a:close/>
                <a:moveTo>
                  <a:pt x="370309" y="423313"/>
                </a:moveTo>
                <a:cubicBezTo>
                  <a:pt x="299534" y="452194"/>
                  <a:pt x="224231" y="365281"/>
                  <a:pt x="177209" y="353765"/>
                </a:cubicBezTo>
                <a:cubicBezTo>
                  <a:pt x="156877" y="348785"/>
                  <a:pt x="140379" y="357566"/>
                  <a:pt x="129510" y="366688"/>
                </a:cubicBezTo>
                <a:cubicBezTo>
                  <a:pt x="119898" y="374753"/>
                  <a:pt x="121229" y="388767"/>
                  <a:pt x="130199" y="397540"/>
                </a:cubicBezTo>
                <a:cubicBezTo>
                  <a:pt x="161215" y="427876"/>
                  <a:pt x="233514" y="495094"/>
                  <a:pt x="285215" y="515775"/>
                </a:cubicBezTo>
                <a:lnTo>
                  <a:pt x="352720" y="542776"/>
                </a:lnTo>
                <a:cubicBezTo>
                  <a:pt x="364676" y="571285"/>
                  <a:pt x="385203" y="596780"/>
                  <a:pt x="385203" y="596780"/>
                </a:cubicBezTo>
                <a:moveTo>
                  <a:pt x="448535" y="223280"/>
                </a:moveTo>
                <a:cubicBezTo>
                  <a:pt x="448535" y="266482"/>
                  <a:pt x="437734" y="301584"/>
                  <a:pt x="491738" y="301584"/>
                </a:cubicBezTo>
                <a:cubicBezTo>
                  <a:pt x="548441" y="301584"/>
                  <a:pt x="559242" y="279983"/>
                  <a:pt x="534940" y="212478"/>
                </a:cubicBezTo>
                <a:cubicBezTo>
                  <a:pt x="521440" y="171976"/>
                  <a:pt x="507939" y="123373"/>
                  <a:pt x="424234" y="123373"/>
                </a:cubicBezTo>
                <a:cubicBezTo>
                  <a:pt x="356729" y="123373"/>
                  <a:pt x="335128" y="190877"/>
                  <a:pt x="335128" y="190877"/>
                </a:cubicBezTo>
                <a:lnTo>
                  <a:pt x="267624" y="212478"/>
                </a:lnTo>
                <a:cubicBezTo>
                  <a:pt x="267624" y="212478"/>
                  <a:pt x="243322" y="336686"/>
                  <a:pt x="356729" y="323185"/>
                </a:cubicBezTo>
                <a:cubicBezTo>
                  <a:pt x="365751" y="360394"/>
                  <a:pt x="367236" y="393835"/>
                  <a:pt x="370824" y="423313"/>
                </a:cubicBezTo>
                <a:moveTo>
                  <a:pt x="534938" y="292555"/>
                </a:moveTo>
                <a:cubicBezTo>
                  <a:pt x="548439" y="346558"/>
                  <a:pt x="586597" y="467947"/>
                  <a:pt x="602939" y="508600"/>
                </a:cubicBezTo>
                <a:moveTo>
                  <a:pt x="87300" y="462495"/>
                </a:moveTo>
                <a:cubicBezTo>
                  <a:pt x="118316" y="492831"/>
                  <a:pt x="190614" y="560047"/>
                  <a:pt x="242316" y="580727"/>
                </a:cubicBezTo>
                <a:lnTo>
                  <a:pt x="276067" y="594228"/>
                </a:lnTo>
              </a:path>
            </a:pathLst>
          </a:custGeom>
          <a:noFill/>
          <a:ln w="16201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8231" y="1940899"/>
            <a:ext cx="607537" cy="607537"/>
          </a:xfrm>
          <a:custGeom>
            <a:avLst/>
            <a:gdLst/>
            <a:ahLst/>
            <a:cxnLst/>
            <a:rect l="0" t="0" r="0" b="0"/>
            <a:pathLst>
              <a:path w="607537" h="607537">
                <a:moveTo>
                  <a:pt x="378023" y="432026"/>
                </a:moveTo>
                <a:lnTo>
                  <a:pt x="378023" y="607537"/>
                </a:lnTo>
                <a:lnTo>
                  <a:pt x="108006" y="607537"/>
                </a:lnTo>
                <a:lnTo>
                  <a:pt x="108006" y="270016"/>
                </a:lnTo>
                <a:cubicBezTo>
                  <a:pt x="108006" y="255104"/>
                  <a:pt x="120095" y="243015"/>
                  <a:pt x="135008" y="243015"/>
                </a:cubicBezTo>
                <a:lnTo>
                  <a:pt x="182261" y="243015"/>
                </a:lnTo>
                <a:moveTo>
                  <a:pt x="27001" y="432026"/>
                </a:moveTo>
                <a:lnTo>
                  <a:pt x="108006" y="432026"/>
                </a:lnTo>
                <a:lnTo>
                  <a:pt x="108006" y="432026"/>
                </a:lnTo>
                <a:lnTo>
                  <a:pt x="108006" y="607537"/>
                </a:lnTo>
                <a:lnTo>
                  <a:pt x="108006" y="607537"/>
                </a:lnTo>
                <a:lnTo>
                  <a:pt x="0" y="607537"/>
                </a:lnTo>
                <a:lnTo>
                  <a:pt x="0" y="607537"/>
                </a:lnTo>
                <a:lnTo>
                  <a:pt x="0" y="459028"/>
                </a:lnTo>
                <a:cubicBezTo>
                  <a:pt x="0" y="444115"/>
                  <a:pt x="12089" y="432026"/>
                  <a:pt x="27001" y="432026"/>
                </a:cubicBezTo>
                <a:close/>
                <a:moveTo>
                  <a:pt x="378023" y="432026"/>
                </a:moveTo>
                <a:lnTo>
                  <a:pt x="459028" y="432026"/>
                </a:lnTo>
                <a:cubicBezTo>
                  <a:pt x="473941" y="432026"/>
                  <a:pt x="486030" y="444115"/>
                  <a:pt x="486030" y="459028"/>
                </a:cubicBezTo>
                <a:lnTo>
                  <a:pt x="486030" y="607537"/>
                </a:lnTo>
                <a:lnTo>
                  <a:pt x="486030" y="607537"/>
                </a:lnTo>
                <a:lnTo>
                  <a:pt x="378023" y="607537"/>
                </a:lnTo>
                <a:lnTo>
                  <a:pt x="378023" y="607537"/>
                </a:lnTo>
                <a:lnTo>
                  <a:pt x="378023" y="432026"/>
                </a:lnTo>
                <a:close/>
                <a:moveTo>
                  <a:pt x="256515" y="175510"/>
                </a:moveTo>
                <a:cubicBezTo>
                  <a:pt x="256515" y="272442"/>
                  <a:pt x="335094" y="351021"/>
                  <a:pt x="432026" y="351021"/>
                </a:cubicBezTo>
                <a:cubicBezTo>
                  <a:pt x="528958" y="351021"/>
                  <a:pt x="607537" y="272442"/>
                  <a:pt x="607537" y="175510"/>
                </a:cubicBezTo>
                <a:cubicBezTo>
                  <a:pt x="607537" y="78578"/>
                  <a:pt x="528958" y="0"/>
                  <a:pt x="432026" y="0"/>
                </a:cubicBezTo>
                <a:cubicBezTo>
                  <a:pt x="335094" y="0"/>
                  <a:pt x="256515" y="78578"/>
                  <a:pt x="256515" y="175510"/>
                </a:cubicBezTo>
                <a:moveTo>
                  <a:pt x="337520" y="155259"/>
                </a:moveTo>
                <a:cubicBezTo>
                  <a:pt x="337520" y="151531"/>
                  <a:pt x="340543" y="148509"/>
                  <a:pt x="344271" y="148509"/>
                </a:cubicBezTo>
                <a:cubicBezTo>
                  <a:pt x="347999" y="148509"/>
                  <a:pt x="351021" y="151531"/>
                  <a:pt x="351021" y="155259"/>
                </a:cubicBezTo>
                <a:cubicBezTo>
                  <a:pt x="351021" y="158987"/>
                  <a:pt x="347999" y="162010"/>
                  <a:pt x="344271" y="162010"/>
                </a:cubicBezTo>
                <a:cubicBezTo>
                  <a:pt x="340543" y="162010"/>
                  <a:pt x="337520" y="158987"/>
                  <a:pt x="337520" y="155259"/>
                </a:cubicBezTo>
                <a:moveTo>
                  <a:pt x="513031" y="155259"/>
                </a:moveTo>
                <a:cubicBezTo>
                  <a:pt x="513031" y="151531"/>
                  <a:pt x="516054" y="148509"/>
                  <a:pt x="519782" y="148509"/>
                </a:cubicBezTo>
                <a:cubicBezTo>
                  <a:pt x="523510" y="148509"/>
                  <a:pt x="526532" y="151531"/>
                  <a:pt x="526532" y="155259"/>
                </a:cubicBezTo>
                <a:cubicBezTo>
                  <a:pt x="526532" y="158987"/>
                  <a:pt x="523510" y="162010"/>
                  <a:pt x="519782" y="162010"/>
                </a:cubicBezTo>
                <a:cubicBezTo>
                  <a:pt x="516054" y="162010"/>
                  <a:pt x="513031" y="158987"/>
                  <a:pt x="513031" y="155259"/>
                </a:cubicBezTo>
                <a:moveTo>
                  <a:pt x="490458" y="225085"/>
                </a:moveTo>
                <a:cubicBezTo>
                  <a:pt x="458183" y="257347"/>
                  <a:pt x="405869" y="257347"/>
                  <a:pt x="373595" y="225085"/>
                </a:cubicBezTo>
                <a:moveTo>
                  <a:pt x="205482" y="419200"/>
                </a:moveTo>
                <a:lnTo>
                  <a:pt x="280547" y="419200"/>
                </a:lnTo>
                <a:moveTo>
                  <a:pt x="205482" y="329285"/>
                </a:moveTo>
                <a:lnTo>
                  <a:pt x="243015" y="329285"/>
                </a:lnTo>
                <a:moveTo>
                  <a:pt x="205482" y="509116"/>
                </a:moveTo>
                <a:lnTo>
                  <a:pt x="280547" y="509116"/>
                </a:lnTo>
                <a:moveTo>
                  <a:pt x="378023" y="490215"/>
                </a:moveTo>
                <a:lnTo>
                  <a:pt x="415420" y="490215"/>
                </a:lnTo>
                <a:moveTo>
                  <a:pt x="378023" y="545460"/>
                </a:moveTo>
                <a:lnTo>
                  <a:pt x="415420" y="545460"/>
                </a:lnTo>
                <a:moveTo>
                  <a:pt x="70609" y="490215"/>
                </a:moveTo>
                <a:lnTo>
                  <a:pt x="108006" y="490215"/>
                </a:lnTo>
                <a:moveTo>
                  <a:pt x="70609" y="545460"/>
                </a:moveTo>
                <a:lnTo>
                  <a:pt x="108006" y="545460"/>
                </a:lnTo>
              </a:path>
            </a:pathLst>
          </a:custGeom>
          <a:noFill/>
          <a:ln w="16201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41959" y="1942249"/>
            <a:ext cx="607537" cy="605698"/>
          </a:xfrm>
          <a:custGeom>
            <a:avLst/>
            <a:gdLst/>
            <a:ahLst/>
            <a:cxnLst/>
            <a:rect l="0" t="0" r="0" b="0"/>
            <a:pathLst>
              <a:path w="607537" h="605698">
                <a:moveTo>
                  <a:pt x="302661" y="286649"/>
                </a:moveTo>
                <a:cubicBezTo>
                  <a:pt x="291245" y="250599"/>
                  <a:pt x="262369" y="222770"/>
                  <a:pt x="225922" y="212692"/>
                </a:cubicBezTo>
                <a:moveTo>
                  <a:pt x="302661" y="286649"/>
                </a:moveTo>
                <a:cubicBezTo>
                  <a:pt x="314090" y="250617"/>
                  <a:pt x="342947" y="222796"/>
                  <a:pt x="379373" y="212692"/>
                </a:cubicBezTo>
                <a:moveTo>
                  <a:pt x="511492" y="384530"/>
                </a:moveTo>
                <a:cubicBezTo>
                  <a:pt x="474797" y="479981"/>
                  <a:pt x="342759" y="578942"/>
                  <a:pt x="310033" y="602488"/>
                </a:cubicBezTo>
                <a:cubicBezTo>
                  <a:pt x="305653" y="605698"/>
                  <a:pt x="299697" y="605698"/>
                  <a:pt x="295317" y="602488"/>
                </a:cubicBezTo>
                <a:cubicBezTo>
                  <a:pt x="262915" y="579185"/>
                  <a:pt x="132389" y="481358"/>
                  <a:pt x="94640" y="386474"/>
                </a:cubicBezTo>
                <a:moveTo>
                  <a:pt x="173539" y="307873"/>
                </a:moveTo>
                <a:lnTo>
                  <a:pt x="426302" y="307873"/>
                </a:lnTo>
                <a:moveTo>
                  <a:pt x="101823" y="402378"/>
                </a:moveTo>
                <a:lnTo>
                  <a:pt x="503527" y="402378"/>
                </a:lnTo>
                <a:moveTo>
                  <a:pt x="172351" y="496884"/>
                </a:moveTo>
                <a:lnTo>
                  <a:pt x="433025" y="496884"/>
                </a:lnTo>
                <a:moveTo>
                  <a:pt x="526532" y="0"/>
                </a:moveTo>
                <a:lnTo>
                  <a:pt x="580913" y="67963"/>
                </a:lnTo>
                <a:cubicBezTo>
                  <a:pt x="598148" y="89507"/>
                  <a:pt x="607537" y="116275"/>
                  <a:pt x="607537" y="143864"/>
                </a:cubicBezTo>
                <a:lnTo>
                  <a:pt x="607537" y="283517"/>
                </a:lnTo>
                <a:cubicBezTo>
                  <a:pt x="607537" y="305886"/>
                  <a:pt x="589404" y="324020"/>
                  <a:pt x="567035" y="324020"/>
                </a:cubicBezTo>
                <a:lnTo>
                  <a:pt x="567035" y="324020"/>
                </a:lnTo>
                <a:cubicBezTo>
                  <a:pt x="544666" y="324020"/>
                  <a:pt x="526532" y="305886"/>
                  <a:pt x="526532" y="283517"/>
                </a:cubicBezTo>
                <a:lnTo>
                  <a:pt x="526532" y="182207"/>
                </a:lnTo>
                <a:moveTo>
                  <a:pt x="405025" y="0"/>
                </a:moveTo>
                <a:lnTo>
                  <a:pt x="405025" y="84623"/>
                </a:lnTo>
                <a:cubicBezTo>
                  <a:pt x="405004" y="108652"/>
                  <a:pt x="412118" y="132146"/>
                  <a:pt x="425465" y="152127"/>
                </a:cubicBezTo>
                <a:lnTo>
                  <a:pt x="456301" y="198408"/>
                </a:lnTo>
                <a:cubicBezTo>
                  <a:pt x="467044" y="216312"/>
                  <a:pt x="490269" y="222115"/>
                  <a:pt x="508171" y="211369"/>
                </a:cubicBezTo>
                <a:lnTo>
                  <a:pt x="509683" y="210424"/>
                </a:lnTo>
                <a:lnTo>
                  <a:pt x="509683" y="210424"/>
                </a:lnTo>
                <a:cubicBezTo>
                  <a:pt x="525559" y="199830"/>
                  <a:pt x="531049" y="179065"/>
                  <a:pt x="522482" y="162010"/>
                </a:cubicBezTo>
                <a:lnTo>
                  <a:pt x="486030" y="101256"/>
                </a:lnTo>
                <a:moveTo>
                  <a:pt x="81005" y="0"/>
                </a:moveTo>
                <a:lnTo>
                  <a:pt x="26623" y="67909"/>
                </a:lnTo>
                <a:cubicBezTo>
                  <a:pt x="9389" y="89453"/>
                  <a:pt x="0" y="116221"/>
                  <a:pt x="0" y="143810"/>
                </a:cubicBezTo>
                <a:lnTo>
                  <a:pt x="0" y="283517"/>
                </a:lnTo>
                <a:cubicBezTo>
                  <a:pt x="0" y="305886"/>
                  <a:pt x="18133" y="324020"/>
                  <a:pt x="40502" y="324020"/>
                </a:cubicBezTo>
                <a:lnTo>
                  <a:pt x="40502" y="324020"/>
                </a:lnTo>
                <a:cubicBezTo>
                  <a:pt x="62871" y="324020"/>
                  <a:pt x="81005" y="305886"/>
                  <a:pt x="81005" y="283517"/>
                </a:cubicBezTo>
                <a:lnTo>
                  <a:pt x="81005" y="182207"/>
                </a:lnTo>
                <a:moveTo>
                  <a:pt x="202512" y="0"/>
                </a:moveTo>
                <a:lnTo>
                  <a:pt x="202512" y="84623"/>
                </a:lnTo>
                <a:cubicBezTo>
                  <a:pt x="202532" y="108652"/>
                  <a:pt x="195419" y="132146"/>
                  <a:pt x="182072" y="152127"/>
                </a:cubicBezTo>
                <a:lnTo>
                  <a:pt x="151236" y="198408"/>
                </a:lnTo>
                <a:cubicBezTo>
                  <a:pt x="140492" y="216312"/>
                  <a:pt x="117268" y="222115"/>
                  <a:pt x="99366" y="211369"/>
                </a:cubicBezTo>
                <a:lnTo>
                  <a:pt x="97854" y="210424"/>
                </a:lnTo>
                <a:lnTo>
                  <a:pt x="97854" y="210424"/>
                </a:lnTo>
                <a:cubicBezTo>
                  <a:pt x="81977" y="199830"/>
                  <a:pt x="76488" y="179065"/>
                  <a:pt x="85055" y="162010"/>
                </a:cubicBezTo>
                <a:lnTo>
                  <a:pt x="121507" y="101256"/>
                </a:lnTo>
              </a:path>
            </a:pathLst>
          </a:custGeom>
          <a:noFill/>
          <a:ln w="16201">
            <a:solidFill>
              <a:srgbClr val="5840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164" y="2698297"/>
            <a:ext cx="1102223" cy="25921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600" b="1">
                <a:solidFill>
                  <a:srgbClr val="584053"/>
                </a:solidFill>
                <a:latin typeface="Roboto"/>
              </a:rPr>
              <a:t>삶의 질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7829" y="2698297"/>
            <a:ext cx="1048350" cy="25921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600" b="1">
                <a:solidFill>
                  <a:srgbClr val="584053"/>
                </a:solidFill>
                <a:latin typeface="Roboto"/>
              </a:rPr>
              <a:t>심리적 안심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1558" y="2698297"/>
            <a:ext cx="1048350" cy="25921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600" b="1">
                <a:solidFill>
                  <a:srgbClr val="584053"/>
                </a:solidFill>
                <a:latin typeface="Roboto"/>
              </a:rPr>
              <a:t>서비스 확장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753607" y="3087158"/>
            <a:ext cx="1489319" cy="583148"/>
            <a:chOff x="1753607" y="3087158"/>
            <a:chExt cx="1489319" cy="583148"/>
          </a:xfrm>
        </p:grpSpPr>
        <p:sp>
          <p:nvSpPr>
            <p:cNvPr id="15" name="TextBox 14"/>
            <p:cNvSpPr txBox="1"/>
            <p:nvPr/>
          </p:nvSpPr>
          <p:spPr>
            <a:xfrm>
              <a:off x="1753607" y="3087158"/>
              <a:ext cx="1489319" cy="194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규칙적인 식습관 형성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753607" y="3281468"/>
              <a:ext cx="1489319" cy="194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과 조기 질병 발견으로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753607" y="3475873"/>
              <a:ext cx="1489319" cy="194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반려동물 수명 연장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841328" y="3087158"/>
            <a:ext cx="1461344" cy="583148"/>
            <a:chOff x="3841328" y="3087158"/>
            <a:chExt cx="1461344" cy="583148"/>
          </a:xfrm>
        </p:grpSpPr>
        <p:sp>
          <p:nvSpPr>
            <p:cNvPr id="19" name="TextBox 18"/>
            <p:cNvSpPr txBox="1"/>
            <p:nvPr/>
          </p:nvSpPr>
          <p:spPr>
            <a:xfrm>
              <a:off x="3841328" y="3087158"/>
              <a:ext cx="1461344" cy="194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언제 어디서나 반려동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41328" y="3281468"/>
              <a:ext cx="1461344" cy="194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물의 상태를 확인하며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41328" y="3475873"/>
              <a:ext cx="1461344" cy="194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보호자의 불안감 해소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894967" y="3087180"/>
            <a:ext cx="1501530" cy="777515"/>
            <a:chOff x="5894967" y="3087180"/>
            <a:chExt cx="1501530" cy="777515"/>
          </a:xfrm>
        </p:grpSpPr>
        <p:sp>
          <p:nvSpPr>
            <p:cNvPr id="23" name="TextBox 22"/>
            <p:cNvSpPr txBox="1"/>
            <p:nvPr/>
          </p:nvSpPr>
          <p:spPr>
            <a:xfrm>
              <a:off x="5894967" y="3087180"/>
              <a:ext cx="1501530" cy="194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수집된 데이터를 기반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94967" y="3281490"/>
              <a:ext cx="1501530" cy="194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으로 맞춤형 사료 및 영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94967" y="3475895"/>
              <a:ext cx="1501530" cy="194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양제 추천 서비스로 고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94967" y="3670205"/>
              <a:ext cx="1501530" cy="194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200" b="0">
                  <a:solidFill>
                    <a:srgbClr val="584053"/>
                  </a:solidFill>
                  <a:latin typeface="Roboto"/>
                </a:rPr>
                <a:t>도화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