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ato"/>
      <p:regular r:id="rId201314"/>
    </p:embeddedFont>
    <p:embeddedFont>
      <p:font typeface="Lato Bold"/>
      <p:regular r:id="rId201315"/>
    </p:embeddedFont>
    <p:embeddedFont>
      <p:font typeface="Lato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6.png"/><Relationship Id="rId9" Type="http://schemas.openxmlformats.org/officeDocument/2006/relationships/image" Target="../media/image-2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1282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PetCare AI Hub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068413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행동을 이해하고, 직접 케어하는 AI 반려동물</a:t>
            </a:r>
            <a:endParaRPr lang="ko-KR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50378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 Behavior Engine × Wireless Modular Hardware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2530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문제 정의</a:t>
            </a:r>
            <a:endParaRPr lang="ko-KR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80889"/>
            <a:ext cx="2290465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441698"/>
            <a:ext cx="18926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보호자의 한계</a:t>
            </a:r>
            <a:endParaRPr lang="ko-KR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1748210"/>
            <a:ext cx="18926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보호자는 외출 중 반려동물의 상태를 계속 확인하기 어렵다.</a:t>
            </a:r>
            <a:endParaRPr lang="ko-KR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8342" y="1280889"/>
            <a:ext cx="2290539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165351" y="1441698"/>
            <a:ext cx="18927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기존 펫캠의 한계</a:t>
            </a:r>
            <a:endParaRPr lang="ko-KR" sz="1350" dirty="0"/>
          </a:p>
        </p:txBody>
      </p:sp>
      <p:sp>
        <p:nvSpPr>
          <p:cNvPr id="9" name="Text 4"/>
          <p:cNvSpPr/>
          <p:nvPr/>
        </p:nvSpPr>
        <p:spPr>
          <a:xfrm>
            <a:off x="3165351" y="1748210"/>
            <a:ext cx="18927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기존 펫캠은 관찰 중심이다.</a:t>
            </a:r>
            <a:endParaRPr lang="ko-KR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504405"/>
            <a:ext cx="2290465" cy="13085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2665214"/>
            <a:ext cx="18926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자동 급식기의 한계</a:t>
            </a:r>
            <a:endParaRPr lang="ko-KR" sz="1350" dirty="0"/>
          </a:p>
        </p:txBody>
      </p:sp>
      <p:sp>
        <p:nvSpPr>
          <p:cNvPr id="12" name="Text 6"/>
          <p:cNvSpPr/>
          <p:nvPr/>
        </p:nvSpPr>
        <p:spPr>
          <a:xfrm>
            <a:off x="733127" y="2971726"/>
            <a:ext cx="18926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자동 급식기는 정해진 시간 배급 중심이다.</a:t>
            </a:r>
            <a:endParaRPr lang="ko-KR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8342" y="2504405"/>
            <a:ext cx="2290539" cy="13085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165351" y="2665214"/>
            <a:ext cx="18927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단순 감지의 한계</a:t>
            </a:r>
            <a:endParaRPr lang="ko-KR" sz="1350" dirty="0"/>
          </a:p>
        </p:txBody>
      </p:sp>
      <p:sp>
        <p:nvSpPr>
          <p:cNvPr id="15" name="Text 8"/>
          <p:cNvSpPr/>
          <p:nvPr/>
        </p:nvSpPr>
        <p:spPr>
          <a:xfrm>
            <a:off x="3165351" y="2971726"/>
            <a:ext cx="18927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단순 움직임 감지만으로는 평소와 다른 행동인지 판단하기 어렵다.</a:t>
            </a:r>
            <a:endParaRPr lang="ko-KR" sz="1100" dirty="0"/>
          </a:p>
        </p:txBody>
      </p:sp>
      <p:sp>
        <p:nvSpPr>
          <p:cNvPr id="16" name="Text 9"/>
          <p:cNvSpPr/>
          <p:nvPr/>
        </p:nvSpPr>
        <p:spPr>
          <a:xfrm>
            <a:off x="708720" y="4131915"/>
            <a:ext cx="4967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"보는 것에서 끝나는 것이 아니라, 판단하고 행동해야 한다."</a:t>
            </a:r>
            <a:endParaRPr lang="ko-KR" sz="1100" dirty="0"/>
          </a:p>
        </p:txBody>
      </p:sp>
      <p:sp>
        <p:nvSpPr>
          <p:cNvPr id="17" name="Shape 10"/>
          <p:cNvSpPr/>
          <p:nvPr/>
        </p:nvSpPr>
        <p:spPr>
          <a:xfrm>
            <a:off x="496119" y="3972446"/>
            <a:ext cx="19050" cy="545753"/>
          </a:xfrm>
          <a:prstGeom prst="roundRect">
            <a:avLst>
              <a:gd name="adj" fmla="val 50000"/>
            </a:avLst>
          </a:prstGeom>
          <a:solidFill>
            <a:srgbClr val="28282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14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해결책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5798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단순 모니터링이 아닌 능동형 AI 케어 시스템</a:t>
            </a:r>
            <a:endParaRPr lang="ko-KR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44266"/>
            <a:ext cx="2717229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7877" y="2453060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Observe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759571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카메라와 센서로 행동과 환경을 관찰</a:t>
            </a:r>
            <a:endParaRPr lang="ko-KR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744266"/>
            <a:ext cx="2717229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5107" y="2453060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355107" y="2759571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AI로 행동 분석</a:t>
            </a:r>
            <a:endParaRPr lang="ko-KR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744266"/>
            <a:ext cx="2717229" cy="567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72336" y="2453060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Decide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72336" y="2759571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평소 행동 패턴과 비교</a:t>
            </a:r>
            <a:endParaRPr lang="ko-KR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128144"/>
            <a:ext cx="2717229" cy="567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7877" y="3836938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37877" y="4143449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필요한 경우 자동 케어</a:t>
            </a:r>
            <a:endParaRPr lang="ko-KR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3128144"/>
            <a:ext cx="2717229" cy="5670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55107" y="3836938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Learn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355107" y="4143449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개입 결과를 다시 분석</a:t>
            </a:r>
            <a:endParaRPr lang="ko-KR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37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핵심 기능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80245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622003"/>
            <a:ext cx="425276" cy="425276"/>
          </a:xfrm>
          <a:prstGeom prst="ellipse">
            <a:avLst/>
          </a:prstGeom>
          <a:solidFill>
            <a:srgbClr val="28282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1738908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189038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행동 분석</a:t>
            </a:r>
            <a:endParaRPr lang="ko-KR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495550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휴식, 이동, 놀이, 배회, 식사/음수 접근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480245"/>
            <a:ext cx="4005039" cy="1383878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9" name="Shape 6"/>
          <p:cNvSpPr/>
          <p:nvPr/>
        </p:nvSpPr>
        <p:spPr>
          <a:xfrm>
            <a:off x="4784601" y="1622003"/>
            <a:ext cx="425276" cy="425276"/>
          </a:xfrm>
          <a:prstGeom prst="ellipse">
            <a:avLst/>
          </a:prstGeom>
          <a:solidFill>
            <a:srgbClr val="2828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580" y="1738908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4601" y="2189038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이상 패턴 감지</a:t>
            </a:r>
            <a:endParaRPr lang="ko-KR" sz="1350" dirty="0"/>
          </a:p>
        </p:txBody>
      </p:sp>
      <p:sp>
        <p:nvSpPr>
          <p:cNvPr id="12" name="Text 8"/>
          <p:cNvSpPr/>
          <p:nvPr/>
        </p:nvSpPr>
        <p:spPr>
          <a:xfrm>
            <a:off x="4784601" y="2495550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활동량 증가, 장시간 움직임 없음, 식사/음수 감소</a:t>
            </a:r>
            <a:endParaRPr lang="ko-KR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14" name="Shape 10"/>
          <p:cNvSpPr/>
          <p:nvPr/>
        </p:nvSpPr>
        <p:spPr>
          <a:xfrm>
            <a:off x="637877" y="3147640"/>
            <a:ext cx="425276" cy="425276"/>
          </a:xfrm>
          <a:prstGeom prst="ellipse">
            <a:avLst/>
          </a:prstGeom>
          <a:solidFill>
            <a:srgbClr val="28282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856" y="3264545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7877" y="371467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자동 케어</a:t>
            </a:r>
            <a:endParaRPr lang="ko-KR" sz="1350" dirty="0"/>
          </a:p>
        </p:txBody>
      </p:sp>
      <p:sp>
        <p:nvSpPr>
          <p:cNvPr id="17" name="Text 12"/>
          <p:cNvSpPr/>
          <p:nvPr/>
        </p:nvSpPr>
        <p:spPr>
          <a:xfrm>
            <a:off x="637877" y="4021187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장난감, 보호자 음성, 급식, 급수</a:t>
            </a:r>
            <a:endParaRPr lang="ko-KR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383878"/>
          </a:xfrm>
          <a:prstGeom prst="roundRect">
            <a:avLst>
              <a:gd name="adj" fmla="val 1537"/>
            </a:avLst>
          </a:prstGeom>
          <a:solidFill>
            <a:srgbClr val="E5DFD2"/>
          </a:solidFill>
          <a:ln/>
        </p:spPr>
      </p:sp>
      <p:sp>
        <p:nvSpPr>
          <p:cNvPr id="19" name="Shape 14"/>
          <p:cNvSpPr/>
          <p:nvPr/>
        </p:nvSpPr>
        <p:spPr>
          <a:xfrm>
            <a:off x="4784601" y="3147640"/>
            <a:ext cx="425276" cy="425276"/>
          </a:xfrm>
          <a:prstGeom prst="ellipse">
            <a:avLst/>
          </a:prstGeom>
          <a:solidFill>
            <a:srgbClr val="28282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1580" y="3264545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4601" y="3714676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환경 관리</a:t>
            </a:r>
            <a:endParaRPr lang="ko-KR" sz="1350" dirty="0"/>
          </a:p>
        </p:txBody>
      </p:sp>
      <p:sp>
        <p:nvSpPr>
          <p:cNvPr id="22" name="Text 16"/>
          <p:cNvSpPr/>
          <p:nvPr/>
        </p:nvSpPr>
        <p:spPr>
          <a:xfrm>
            <a:off x="4784601" y="4021187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온도, 습도, 냉방 및 가습 제어</a:t>
            </a:r>
            <a:endParaRPr lang="ko-K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94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개인화 AI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708720" y="1665461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"배회한다가 아니라 평소보다 많이 배회한다."</a:t>
            </a:r>
            <a:endParaRPr lang="ko-KR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05992"/>
            <a:ext cx="19050" cy="545753"/>
          </a:xfrm>
          <a:prstGeom prst="roundRect">
            <a:avLst>
              <a:gd name="adj" fmla="val 50000"/>
            </a:avLst>
          </a:prstGeom>
          <a:solidFill>
            <a:srgbClr val="282824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21121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평소 행동 프로필과 현재 행동을 비교하는 구조</a:t>
            </a:r>
            <a:endParaRPr 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394022" y="2597497"/>
            <a:ext cx="4107135" cy="1766441"/>
          </a:xfrm>
          <a:prstGeom prst="roundRect">
            <a:avLst>
              <a:gd name="adj" fmla="val 1204"/>
            </a:avLst>
          </a:prstGeom>
          <a:solidFill>
            <a:srgbClr val="282824"/>
          </a:solidFill>
          <a:ln/>
        </p:spPr>
      </p:sp>
      <p:sp>
        <p:nvSpPr>
          <p:cNvPr id="7" name="Text 5"/>
          <p:cNvSpPr/>
          <p:nvPr/>
        </p:nvSpPr>
        <p:spPr>
          <a:xfrm>
            <a:off x="535781" y="2739256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평소 행동 프로필</a:t>
            </a:r>
            <a:endParaRPr lang="ko-KR" sz="1350" dirty="0"/>
          </a:p>
        </p:txBody>
      </p:sp>
      <p:sp>
        <p:nvSpPr>
          <p:cNvPr id="8" name="Text 6"/>
          <p:cNvSpPr/>
          <p:nvPr/>
        </p:nvSpPr>
        <p:spPr>
          <a:xfrm>
            <a:off x="535781" y="3102471"/>
            <a:ext cx="3823618" cy="105593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평균 활동량 63%</a:t>
            </a:r>
            <a:endParaRPr lang="ko-KR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평균 놀이 횟수 3.4회</a:t>
            </a:r>
            <a:endParaRPr lang="ko-KR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평균 수면 시간 8.2시간</a:t>
            </a:r>
            <a:endParaRPr lang="ko-KR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오후 활동량 낮음</a:t>
            </a:r>
            <a:endParaRPr lang="ko-KR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273925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현재 행동 패턴</a:t>
            </a:r>
            <a:endParaRPr lang="ko-KR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3102471"/>
            <a:ext cx="390294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현재 활동량 증가</a:t>
            </a:r>
            <a:endParaRPr lang="ko-KR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배회 증가</a:t>
            </a:r>
            <a:endParaRPr lang="ko-KR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음수 행동 감소</a:t>
            </a:r>
            <a:endParaRPr lang="ko-KR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4009579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평소와 다른 행동 패턴 감지</a:t>
            </a:r>
            <a:endParaRPr lang="ko-K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6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시스템 아키텍처</a:t>
            </a:r>
            <a:endParaRPr lang="ko-KR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34145"/>
            <a:ext cx="6403107" cy="36017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55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실제 동작 시나리오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582391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CBC5B8"/>
          </a:solidFill>
          <a:ln/>
        </p:spPr>
      </p:sp>
      <p:sp>
        <p:nvSpPr>
          <p:cNvPr id="4" name="Shape 2"/>
          <p:cNvSpPr/>
          <p:nvPr/>
        </p:nvSpPr>
        <p:spPr>
          <a:xfrm>
            <a:off x="1587847" y="2157115"/>
            <a:ext cx="19050" cy="425276"/>
          </a:xfrm>
          <a:prstGeom prst="roundRect">
            <a:avLst>
              <a:gd name="adj" fmla="val 50000"/>
            </a:avLst>
          </a:prstGeom>
          <a:solidFill>
            <a:srgbClr val="CBC5B8"/>
          </a:solidFill>
          <a:ln/>
        </p:spPr>
      </p:sp>
      <p:sp>
        <p:nvSpPr>
          <p:cNvPr id="5" name="Shape 3"/>
          <p:cNvSpPr/>
          <p:nvPr/>
        </p:nvSpPr>
        <p:spPr>
          <a:xfrm>
            <a:off x="1437903" y="242292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6" name="Text 4"/>
          <p:cNvSpPr/>
          <p:nvPr/>
        </p:nvSpPr>
        <p:spPr>
          <a:xfrm>
            <a:off x="1491072" y="244948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7877" y="1482030"/>
            <a:ext cx="19189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14:00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1788542"/>
            <a:ext cx="19189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평소보다 배회 증가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2777654" y="2582391"/>
            <a:ext cx="19050" cy="425276"/>
          </a:xfrm>
          <a:prstGeom prst="roundRect">
            <a:avLst>
              <a:gd name="adj" fmla="val 50000"/>
            </a:avLst>
          </a:prstGeom>
          <a:solidFill>
            <a:srgbClr val="CBC5B8"/>
          </a:solidFill>
          <a:ln/>
        </p:spPr>
      </p:sp>
      <p:sp>
        <p:nvSpPr>
          <p:cNvPr id="10" name="Shape 8"/>
          <p:cNvSpPr/>
          <p:nvPr/>
        </p:nvSpPr>
        <p:spPr>
          <a:xfrm>
            <a:off x="2627709" y="242292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2680878" y="244948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27684" y="3149426"/>
            <a:ext cx="19189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14:05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27684" y="3455938"/>
            <a:ext cx="19189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이상 패턴 감지</a:t>
            </a:r>
            <a:endParaRPr lang="ko-KR" sz="1100" dirty="0"/>
          </a:p>
        </p:txBody>
      </p:sp>
      <p:sp>
        <p:nvSpPr>
          <p:cNvPr id="14" name="Shape 12"/>
          <p:cNvSpPr/>
          <p:nvPr/>
        </p:nvSpPr>
        <p:spPr>
          <a:xfrm>
            <a:off x="3967535" y="2157115"/>
            <a:ext cx="19050" cy="425276"/>
          </a:xfrm>
          <a:prstGeom prst="roundRect">
            <a:avLst>
              <a:gd name="adj" fmla="val 50000"/>
            </a:avLst>
          </a:prstGeom>
          <a:solidFill>
            <a:srgbClr val="CBC5B8"/>
          </a:solidFill>
          <a:ln/>
        </p:spPr>
      </p:sp>
      <p:sp>
        <p:nvSpPr>
          <p:cNvPr id="15" name="Shape 13"/>
          <p:cNvSpPr/>
          <p:nvPr/>
        </p:nvSpPr>
        <p:spPr>
          <a:xfrm>
            <a:off x="3817590" y="242292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3870759" y="244948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017565" y="1482030"/>
            <a:ext cx="19189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14:06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017565" y="1788542"/>
            <a:ext cx="19189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보호자 음성 재생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5157341" y="2582391"/>
            <a:ext cx="19050" cy="425276"/>
          </a:xfrm>
          <a:prstGeom prst="roundRect">
            <a:avLst>
              <a:gd name="adj" fmla="val 50000"/>
            </a:avLst>
          </a:prstGeom>
          <a:solidFill>
            <a:srgbClr val="CBC5B8"/>
          </a:solidFill>
          <a:ln/>
        </p:spPr>
      </p:sp>
      <p:sp>
        <p:nvSpPr>
          <p:cNvPr id="20" name="Shape 18"/>
          <p:cNvSpPr/>
          <p:nvPr/>
        </p:nvSpPr>
        <p:spPr>
          <a:xfrm>
            <a:off x="5007397" y="242292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21" name="Text 19"/>
          <p:cNvSpPr/>
          <p:nvPr/>
        </p:nvSpPr>
        <p:spPr>
          <a:xfrm>
            <a:off x="5060566" y="244948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207371" y="3149426"/>
            <a:ext cx="19189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14:07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07371" y="3455938"/>
            <a:ext cx="19189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변화 없음</a:t>
            </a:r>
            <a:endParaRPr lang="ko-KR" sz="1100" dirty="0"/>
          </a:p>
        </p:txBody>
      </p:sp>
      <p:sp>
        <p:nvSpPr>
          <p:cNvPr id="24" name="Shape 22"/>
          <p:cNvSpPr/>
          <p:nvPr/>
        </p:nvSpPr>
        <p:spPr>
          <a:xfrm>
            <a:off x="6347222" y="2157115"/>
            <a:ext cx="19050" cy="425276"/>
          </a:xfrm>
          <a:prstGeom prst="roundRect">
            <a:avLst>
              <a:gd name="adj" fmla="val 50000"/>
            </a:avLst>
          </a:prstGeom>
          <a:solidFill>
            <a:srgbClr val="CBC5B8"/>
          </a:solidFill>
          <a:ln/>
        </p:spPr>
      </p:sp>
      <p:sp>
        <p:nvSpPr>
          <p:cNvPr id="25" name="Shape 23"/>
          <p:cNvSpPr/>
          <p:nvPr/>
        </p:nvSpPr>
        <p:spPr>
          <a:xfrm>
            <a:off x="6197278" y="242292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26" name="Text 24"/>
          <p:cNvSpPr/>
          <p:nvPr/>
        </p:nvSpPr>
        <p:spPr>
          <a:xfrm>
            <a:off x="6250446" y="244948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397252" y="1482030"/>
            <a:ext cx="19189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14:08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97252" y="1788542"/>
            <a:ext cx="19189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장난감 작동</a:t>
            </a:r>
            <a:endParaRPr lang="ko-KR" sz="1100" dirty="0"/>
          </a:p>
        </p:txBody>
      </p:sp>
      <p:sp>
        <p:nvSpPr>
          <p:cNvPr id="29" name="Shape 27"/>
          <p:cNvSpPr/>
          <p:nvPr/>
        </p:nvSpPr>
        <p:spPr>
          <a:xfrm>
            <a:off x="7537028" y="2582391"/>
            <a:ext cx="19050" cy="425276"/>
          </a:xfrm>
          <a:prstGeom prst="roundRect">
            <a:avLst>
              <a:gd name="adj" fmla="val 50000"/>
            </a:avLst>
          </a:prstGeom>
          <a:solidFill>
            <a:srgbClr val="CBC5B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87084" y="242292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31" name="Text 29"/>
          <p:cNvSpPr/>
          <p:nvPr/>
        </p:nvSpPr>
        <p:spPr>
          <a:xfrm>
            <a:off x="7440253" y="244948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587058" y="3149426"/>
            <a:ext cx="19189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14:10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587058" y="3455938"/>
            <a:ext cx="19189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활동량 증가 → 개입 효과 기록</a:t>
            </a:r>
            <a:endParaRPr lang="ko-KR" sz="1100" dirty="0"/>
          </a:p>
        </p:txBody>
      </p:sp>
      <p:sp>
        <p:nvSpPr>
          <p:cNvPr id="34" name="Text 32"/>
          <p:cNvSpPr/>
          <p:nvPr/>
        </p:nvSpPr>
        <p:spPr>
          <a:xfrm>
            <a:off x="708720" y="4001691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"AI 개입 → 반응 확인 → 다음 판단에 반영"</a:t>
            </a:r>
            <a:endParaRPr lang="ko-KR" sz="1100" dirty="0"/>
          </a:p>
        </p:txBody>
      </p:sp>
      <p:sp>
        <p:nvSpPr>
          <p:cNvPr id="35" name="Shape 33"/>
          <p:cNvSpPr/>
          <p:nvPr/>
        </p:nvSpPr>
        <p:spPr>
          <a:xfrm>
            <a:off x="496119" y="3842221"/>
            <a:ext cx="19050" cy="545753"/>
          </a:xfrm>
          <a:prstGeom prst="roundRect">
            <a:avLst>
              <a:gd name="adj" fmla="val 50000"/>
            </a:avLst>
          </a:prstGeom>
          <a:solidFill>
            <a:srgbClr val="28282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24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차별화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98947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11254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52375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93496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34617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75738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80779" y="1698947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34892" y="1698947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89006" y="1698947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2714" y="1793528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기능</a:t>
            </a:r>
            <a:endParaRPr lang="ko-KR" sz="1100" dirty="0"/>
          </a:p>
        </p:txBody>
      </p:sp>
      <p:sp>
        <p:nvSpPr>
          <p:cNvPr id="13" name="Text 11"/>
          <p:cNvSpPr/>
          <p:nvPr/>
        </p:nvSpPr>
        <p:spPr>
          <a:xfrm>
            <a:off x="2924919" y="1793528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기존 펫캠</a:t>
            </a:r>
            <a:endParaRPr lang="ko-KR" sz="1100" dirty="0"/>
          </a:p>
        </p:txBody>
      </p:sp>
      <p:sp>
        <p:nvSpPr>
          <p:cNvPr id="14" name="Text 12"/>
          <p:cNvSpPr/>
          <p:nvPr/>
        </p:nvSpPr>
        <p:spPr>
          <a:xfrm>
            <a:off x="4879032" y="1793528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자동 급식기</a:t>
            </a:r>
            <a:endParaRPr lang="ko-KR" sz="1100" dirty="0"/>
          </a:p>
        </p:txBody>
      </p:sp>
      <p:sp>
        <p:nvSpPr>
          <p:cNvPr id="15" name="Text 13"/>
          <p:cNvSpPr/>
          <p:nvPr/>
        </p:nvSpPr>
        <p:spPr>
          <a:xfrm>
            <a:off x="6833146" y="1793528"/>
            <a:ext cx="21254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PetCare AI 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2204740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행동 분석</a:t>
            </a:r>
            <a:endParaRPr lang="ko-KR" sz="1100" dirty="0"/>
          </a:p>
        </p:txBody>
      </p:sp>
      <p:sp>
        <p:nvSpPr>
          <p:cNvPr id="17" name="Text 15"/>
          <p:cNvSpPr/>
          <p:nvPr/>
        </p:nvSpPr>
        <p:spPr>
          <a:xfrm>
            <a:off x="2924919" y="2204740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9032" y="2204740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3146" y="2204740"/>
            <a:ext cx="21254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714" y="2615952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개인화 행동 프로필</a:t>
            </a:r>
            <a:endParaRPr lang="ko-KR" sz="1100" dirty="0"/>
          </a:p>
        </p:txBody>
      </p:sp>
      <p:sp>
        <p:nvSpPr>
          <p:cNvPr id="21" name="Text 19"/>
          <p:cNvSpPr/>
          <p:nvPr/>
        </p:nvSpPr>
        <p:spPr>
          <a:xfrm>
            <a:off x="2924919" y="2615952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9032" y="2615952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33146" y="2615952"/>
            <a:ext cx="21254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2714" y="3027164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자동 케어</a:t>
            </a:r>
            <a:endParaRPr lang="ko-KR" sz="1100" dirty="0"/>
          </a:p>
        </p:txBody>
      </p:sp>
      <p:sp>
        <p:nvSpPr>
          <p:cNvPr id="25" name="Text 23"/>
          <p:cNvSpPr/>
          <p:nvPr/>
        </p:nvSpPr>
        <p:spPr>
          <a:xfrm>
            <a:off x="2924919" y="3027164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9032" y="3027164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부분</a:t>
            </a:r>
            <a:endParaRPr lang="ko-KR" sz="1100" dirty="0"/>
          </a:p>
        </p:txBody>
      </p:sp>
      <p:sp>
        <p:nvSpPr>
          <p:cNvPr id="27" name="Text 25"/>
          <p:cNvSpPr/>
          <p:nvPr/>
        </p:nvSpPr>
        <p:spPr>
          <a:xfrm>
            <a:off x="6833146" y="3027164"/>
            <a:ext cx="21254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2714" y="3438376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개입 효과 학습</a:t>
            </a:r>
            <a:endParaRPr lang="ko-KR" sz="1100" dirty="0"/>
          </a:p>
        </p:txBody>
      </p:sp>
      <p:sp>
        <p:nvSpPr>
          <p:cNvPr id="29" name="Text 27"/>
          <p:cNvSpPr/>
          <p:nvPr/>
        </p:nvSpPr>
        <p:spPr>
          <a:xfrm>
            <a:off x="2924919" y="3438376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79032" y="3438376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33146" y="3438376"/>
            <a:ext cx="21254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2714" y="3849588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행동 → 판단 → 행동 → 학습 순환</a:t>
            </a:r>
            <a:endParaRPr lang="ko-KR" sz="1100" dirty="0"/>
          </a:p>
        </p:txBody>
      </p:sp>
      <p:sp>
        <p:nvSpPr>
          <p:cNvPr id="33" name="Text 31"/>
          <p:cNvSpPr/>
          <p:nvPr/>
        </p:nvSpPr>
        <p:spPr>
          <a:xfrm>
            <a:off x="2924919" y="3849588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9032" y="3849588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33146" y="3849588"/>
            <a:ext cx="21254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42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사업성 및 개발 계획</a:t>
            </a:r>
            <a:endParaRPr lang="ko-KR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907405"/>
            <a:ext cx="8151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HaaS + SaaS 구독 모델</a:t>
            </a:r>
            <a:endParaRPr lang="ko-KR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331491"/>
            <a:ext cx="8151763" cy="800919"/>
          </a:xfrm>
          <a:prstGeom prst="roundRect">
            <a:avLst>
              <a:gd name="adj" fmla="val 2614"/>
            </a:avLst>
          </a:prstGeom>
          <a:solidFill>
            <a:srgbClr val="E5DFD2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331491"/>
            <a:ext cx="4075881" cy="800919"/>
          </a:xfrm>
          <a:custGeom>
            <a:avLst/>
            <a:gdLst/>
            <a:ahLst/>
            <a:cxnLst/>
            <a:rect l="l" t="t" r="r" b="b"/>
            <a:pathLst>
              <a:path w="4075881" h="800919">
                <a:moveTo>
                  <a:pt x="17444" y="0"/>
                </a:moveTo>
                <a:lnTo>
                  <a:pt x="4075881" y="0"/>
                </a:lnTo>
                <a:lnTo>
                  <a:pt x="4075881" y="800919"/>
                </a:lnTo>
                <a:lnTo>
                  <a:pt x="17444" y="800919"/>
                </a:lnTo>
                <a:arcTo hR="17444" wR="17444" stAng="5400000" swAng="5400000"/>
                <a:lnTo>
                  <a:pt x="0" y="17444"/>
                </a:lnTo>
                <a:arcTo hR="17444" wR="17444" stAng="10800000" swAng="5400000"/>
                <a:close/>
              </a:path>
            </a:pathLst>
          </a:custGeom>
          <a:solidFill>
            <a:srgbClr val="E5DFD2"/>
          </a:solidFill>
          <a:ln/>
        </p:spPr>
      </p:sp>
      <p:sp>
        <p:nvSpPr>
          <p:cNvPr id="6" name="Text 4"/>
          <p:cNvSpPr/>
          <p:nvPr/>
        </p:nvSpPr>
        <p:spPr>
          <a:xfrm>
            <a:off x="635645" y="1471017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LIGHT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5645" y="1771427"/>
            <a:ext cx="3796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월 19,900원</a:t>
            </a:r>
            <a:endParaRPr lang="ko-KR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331491"/>
            <a:ext cx="4075881" cy="800919"/>
          </a:xfrm>
          <a:custGeom>
            <a:avLst/>
            <a:gdLst/>
            <a:ahLst/>
            <a:cxnLst/>
            <a:rect l="l" t="t" r="r" b="b"/>
            <a:pathLst>
              <a:path w="4075881" h="800919">
                <a:moveTo>
                  <a:pt x="0" y="0"/>
                </a:moveTo>
                <a:lnTo>
                  <a:pt x="4058437" y="0"/>
                </a:lnTo>
                <a:arcTo hR="17444" wR="17444" stAng="16200000" swAng="5400000"/>
                <a:lnTo>
                  <a:pt x="4075881" y="783475"/>
                </a:lnTo>
                <a:arcTo hR="17444" wR="17444" stAng="0" swAng="5400000"/>
                <a:lnTo>
                  <a:pt x="0" y="800919"/>
                </a:lnTo>
                <a:lnTo>
                  <a:pt x="0" y="0"/>
                </a:lnTo>
                <a:close/>
              </a:path>
            </a:pathLst>
          </a:custGeom>
          <a:solidFill>
            <a:srgbClr val="E5DFD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331491"/>
            <a:ext cx="19050" cy="800919"/>
          </a:xfrm>
          <a:prstGeom prst="roundRect">
            <a:avLst>
              <a:gd name="adj" fmla="val 50000"/>
            </a:avLst>
          </a:prstGeom>
          <a:solidFill>
            <a:srgbClr val="CBC5B8"/>
          </a:solidFill>
          <a:ln/>
        </p:spPr>
      </p:sp>
      <p:sp>
        <p:nvSpPr>
          <p:cNvPr id="10" name="Text 8"/>
          <p:cNvSpPr/>
          <p:nvPr/>
        </p:nvSpPr>
        <p:spPr>
          <a:xfrm>
            <a:off x="4711526" y="1471017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PLATINUM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11526" y="1771427"/>
            <a:ext cx="3796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ko-KR" alt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월 39,000원</a:t>
            </a:r>
            <a:endParaRPr lang="ko-KR" sz="1050" dirty="0"/>
          </a:p>
        </p:txBody>
      </p:sp>
      <p:sp>
        <p:nvSpPr>
          <p:cNvPr id="12" name="Text 10"/>
          <p:cNvSpPr/>
          <p:nvPr/>
        </p:nvSpPr>
        <p:spPr>
          <a:xfrm>
            <a:off x="496119" y="2338462"/>
            <a:ext cx="8151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개발 로드맵</a:t>
            </a:r>
            <a:endParaRPr lang="ko-KR" sz="1350" dirty="0"/>
          </a:p>
        </p:txBody>
      </p:sp>
      <p:sp>
        <p:nvSpPr>
          <p:cNvPr id="13" name="Shape 11"/>
          <p:cNvSpPr/>
          <p:nvPr/>
        </p:nvSpPr>
        <p:spPr>
          <a:xfrm>
            <a:off x="496119" y="2762548"/>
            <a:ext cx="2625626" cy="418654"/>
          </a:xfrm>
          <a:prstGeom prst="roundRect">
            <a:avLst>
              <a:gd name="adj" fmla="val 50000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1704231" y="284105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645" y="3318570"/>
            <a:ext cx="234657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Hardware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259113" y="2762548"/>
            <a:ext cx="2625700" cy="418654"/>
          </a:xfrm>
          <a:prstGeom prst="roundRect">
            <a:avLst>
              <a:gd name="adj" fmla="val 50000"/>
            </a:avLst>
          </a:prstGeom>
          <a:solidFill>
            <a:srgbClr val="E5DFD2"/>
          </a:solidFill>
          <a:ln/>
        </p:spPr>
      </p:sp>
      <p:sp>
        <p:nvSpPr>
          <p:cNvPr id="17" name="Text 15"/>
          <p:cNvSpPr/>
          <p:nvPr/>
        </p:nvSpPr>
        <p:spPr>
          <a:xfrm>
            <a:off x="4467299" y="284105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98639" y="3318570"/>
            <a:ext cx="234664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22181" y="2762548"/>
            <a:ext cx="2625626" cy="418654"/>
          </a:xfrm>
          <a:prstGeom prst="roundRect">
            <a:avLst>
              <a:gd name="adj" fmla="val 50000"/>
            </a:avLst>
          </a:prstGeom>
          <a:solidFill>
            <a:srgbClr val="E5DFD2"/>
          </a:solidFill>
          <a:ln/>
        </p:spPr>
      </p:sp>
      <p:sp>
        <p:nvSpPr>
          <p:cNvPr id="20" name="Text 18"/>
          <p:cNvSpPr/>
          <p:nvPr/>
        </p:nvSpPr>
        <p:spPr>
          <a:xfrm>
            <a:off x="7230294" y="284105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1708" y="3318570"/>
            <a:ext cx="234657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IoT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6119" y="3813497"/>
            <a:ext cx="2625626" cy="418654"/>
          </a:xfrm>
          <a:prstGeom prst="roundRect">
            <a:avLst>
              <a:gd name="adj" fmla="val 50000"/>
            </a:avLst>
          </a:prstGeom>
          <a:solidFill>
            <a:srgbClr val="E5DFD2"/>
          </a:solidFill>
          <a:ln/>
        </p:spPr>
      </p:sp>
      <p:sp>
        <p:nvSpPr>
          <p:cNvPr id="23" name="Text 21"/>
          <p:cNvSpPr/>
          <p:nvPr/>
        </p:nvSpPr>
        <p:spPr>
          <a:xfrm>
            <a:off x="1704231" y="389200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645" y="4369519"/>
            <a:ext cx="234657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259113" y="3813497"/>
            <a:ext cx="2625700" cy="418654"/>
          </a:xfrm>
          <a:prstGeom prst="roundRect">
            <a:avLst>
              <a:gd name="adj" fmla="val 50000"/>
            </a:avLst>
          </a:prstGeom>
          <a:solidFill>
            <a:srgbClr val="E5DFD2"/>
          </a:solidFill>
          <a:ln/>
        </p:spPr>
      </p:sp>
      <p:sp>
        <p:nvSpPr>
          <p:cNvPr id="26" name="Text 24"/>
          <p:cNvSpPr/>
          <p:nvPr/>
        </p:nvSpPr>
        <p:spPr>
          <a:xfrm>
            <a:off x="4467299" y="3892004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98639" y="4369519"/>
            <a:ext cx="234664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Personalization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2466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결론</a:t>
            </a:r>
            <a:endParaRPr lang="ko-KR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80257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우리가 만들고 싶은 것은 펫캠이 아닙니다.</a:t>
            </a:r>
            <a:endParaRPr lang="ko-KR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01563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반려동물을 감시하는 AI가 아니라, 혼자 있는 반려동물과 함께하는 AI</a:t>
            </a:r>
            <a:endParaRPr lang="ko-KR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401913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3543672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PetCare AI Hub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3850184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Pet Companion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2026-08-12T06:47:26Z</dcterms:created>
  <dcterms:modified xsi:type="dcterms:W3CDTF">2026-08-12T06:47:26Z</dcterms:modified>
</cp:coreProperties>
</file>